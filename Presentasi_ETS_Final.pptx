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44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B6E1-2C64-BDBF-22C7-99A5838C7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F2B16-811E-1B32-AEE7-AFCEDBE0A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806EF-DA34-D759-2519-36A4EEB36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E02C6-9735-BBDD-DA1A-ACA16D30D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89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Safe-Concurrency untuk Multi-Sensor Fusion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Sistem Industrial Safety-Critical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Bare-Metal Rust  |  Voting ≥2/3  |  Adaptive Lockout 500/2000ms
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Evaluasi Tengah Semester — Pemrograman Kontroller
</a:t>
            </a: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Abdurrauf Almutawakkil — NRP 2042241115 — Teknik Instrumentasi ITS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Dosen Pengampu: Ahmad Radhy, S.Si., M.Si.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Latar Belakang — Apa yang Sudah Diteliti &amp; Di Mana Celahnya?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Berdasarkan 25 jurnal Scopus/WoS (2021–2026), kami mengidentifikasi 5 area future work yang belum terselesaikan:</a:t>
            </a:r>
            <a:endParaRPr lang="en-US" sz="1100" dirty="0"/>
          </a:p>
        </p:txBody>
      </p:sp>
      <p:grpSp>
        <p:nvGrpSpPr>
          <p:cNvPr id="41" name="Grup 40">
            <a:extLst>
              <a:ext uri="{FF2B5EF4-FFF2-40B4-BE49-F238E27FC236}">
                <a16:creationId xmlns:a16="http://schemas.microsoft.com/office/drawing/2014/main" id="{5C97A649-69B8-59A9-49F5-8798369E27C2}"/>
              </a:ext>
            </a:extLst>
          </p:cNvPr>
          <p:cNvGrpSpPr/>
          <p:nvPr/>
        </p:nvGrpSpPr>
        <p:grpSpPr>
          <a:xfrm>
            <a:off x="1316736" y="1143000"/>
            <a:ext cx="1664208" cy="4389120"/>
            <a:chOff x="274320" y="1143000"/>
            <a:chExt cx="1664208" cy="4389120"/>
          </a:xfrm>
        </p:grpSpPr>
        <p:sp>
          <p:nvSpPr>
            <p:cNvPr id="4" name="Shape 2"/>
            <p:cNvSpPr/>
            <p:nvPr/>
          </p:nvSpPr>
          <p:spPr>
            <a:xfrm>
              <a:off x="274320" y="1143000"/>
              <a:ext cx="1664208" cy="4389120"/>
            </a:xfrm>
            <a:prstGeom prst="roundRect">
              <a:avLst>
                <a:gd name="adj" fmla="val 3297"/>
              </a:avLst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365760" y="1234440"/>
              <a:ext cx="1481328" cy="365760"/>
            </a:xfrm>
            <a:prstGeom prst="roundRect">
              <a:avLst>
                <a:gd name="adj" fmla="val 10000"/>
              </a:avLst>
            </a:prstGeom>
            <a:solidFill>
              <a:srgbClr val="3B82F6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365760" y="1234440"/>
              <a:ext cx="1481328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FW12</a:t>
              </a:r>
              <a:endParaRPr lang="en-US" sz="11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691640"/>
              <a:ext cx="148132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HW-SW Co-Design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0F172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Fault-Tolerant Fusion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65760" y="2194560"/>
              <a:ext cx="1481328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i="1" dirty="0">
                  <a:solidFill>
                    <a:srgbClr val="94A3B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Matos et al. (2024) — Survey kegagalan sensor pada autonomous vehicles</a:t>
              </a:r>
              <a:endParaRPr lang="en-US" sz="7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2697480"/>
              <a:ext cx="1115568" cy="13716"/>
            </a:xfrm>
            <a:prstGeom prst="rect">
              <a:avLst/>
            </a:prstGeom>
            <a:solidFill>
              <a:srgbClr val="E2E8F0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365760" y="2788920"/>
              <a:ext cx="1481328" cy="2651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ts val="1300"/>
                </a:lnSpc>
                <a:buNone/>
              </a:pPr>
              <a:r>
                <a:rPr lang="en-US" sz="75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Membahas taksonomi kegagalan sensor di AV</a:t>
              </a:r>
              <a:endParaRPr lang="en-US" sz="7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75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Mengusulkan fault-tolerant fusion hw-sw co-design</a:t>
              </a:r>
              <a:endParaRPr lang="en-US" sz="7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75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Kelemahan: Hanya usulan konseptual, belum ada</a:t>
              </a:r>
              <a:endParaRPr lang="en-US" sz="7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75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implementasi nyata di embedded MCU</a:t>
              </a:r>
              <a:endParaRPr lang="en-US" sz="750" dirty="0"/>
            </a:p>
            <a:p>
              <a:pPr marL="0" indent="0">
                <a:lnSpc>
                  <a:spcPts val="1300"/>
                </a:lnSpc>
                <a:buNone/>
              </a:pPr>
              <a:r>
                <a:rPr lang="en-US" sz="750" dirty="0">
                  <a:solidFill>
                    <a:srgbClr val="3341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Tidak ada mekanisme lockout atau voting redundancy</a:t>
              </a:r>
              <a:endParaRPr lang="en-US" sz="750" dirty="0"/>
            </a:p>
          </p:txBody>
        </p:sp>
      </p:grpSp>
      <p:sp>
        <p:nvSpPr>
          <p:cNvPr id="11" name="Shape 9"/>
          <p:cNvSpPr/>
          <p:nvPr/>
        </p:nvSpPr>
        <p:spPr>
          <a:xfrm>
            <a:off x="3099816" y="1143000"/>
            <a:ext cx="1664208" cy="438912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0"/>
          <p:cNvSpPr/>
          <p:nvPr/>
        </p:nvSpPr>
        <p:spPr>
          <a:xfrm>
            <a:off x="3191256" y="12344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191256" y="12344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FW17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91256" y="16916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Embedded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Detection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91256" y="21945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Bruneo &amp; De Vita (2022) — Echo State Networks untuk fault detection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74136" y="2697480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191256" y="278892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Menggunakan Echo State Network (ESN) untuk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deteksi fault di edge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 work: real-time embedded deployment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pada mikrokontroler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Kelemahan: ESN terlalu berat untuk bare-metal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MCU, butuh resource komputasi besar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Belum ada voting-based sensor fusion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82896" y="1143000"/>
            <a:ext cx="1664208" cy="438912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74336" y="12344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4974336" y="12344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FW18/23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74336" y="16916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Memory Safety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Unsafe Reduction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74336" y="21945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 et al. (2021) — 186 CVE memory-safety di Rust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Jiang et al. (2023) — Thetis static analysis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57216" y="2697480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974336" y="278892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Mengidentifikasi 5 pola bug memory-safety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 Rust unsafe code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Thetis mengurangi unsafe code surface area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Kelemahan: Belum diaplikasikan ke sistem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embedded real-time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ada implementasi sensor fusion dengan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Rust safety guarantees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665976" y="1143000"/>
            <a:ext cx="1664208" cy="438912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12344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757416" y="12344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FW21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57416" y="16916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Low-Latency Rust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OS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757416" y="21945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Radovici et al. (2022) — eBPF di Tock kernel, 3× faster interrupt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940296" y="2697480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757416" y="278892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Mencapai latensi interrupt 3× lebih cepat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dengan Rust+eBPF di Tock kernel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 work: mengurangi overhead array iteration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Kelemahan: Fokus pada performa OS, bukan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pada fault detection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mengimplementasikan mekanisme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sensor fusion atau fail-safe actuator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449056" y="1143000"/>
            <a:ext cx="1664208" cy="4389120"/>
          </a:xfrm>
          <a:prstGeom prst="roundRect">
            <a:avLst>
              <a:gd name="adj" fmla="val 3297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40496" y="1234440"/>
            <a:ext cx="1481328" cy="36576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8540496" y="123444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FW24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0496" y="169164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Performance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C/C++ pada ESP32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40496" y="2194560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Plauska &amp; Liutkevičius (2023) — Benchmark Rust/C/MicroPython/TinyGo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723376" y="2697480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8540496" y="2788920"/>
            <a:ext cx="148132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Membuktikan Rust memiliki performa kompetitif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C di ESP32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 work: benchmark multi-threaded dan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async workloads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Kelemahan: Hanya benchmark sintetis, bukan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aplikasi safety-critical nyata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menguji Rust dalam konteks sensor</a:t>
            </a:r>
            <a:endParaRPr lang="en-US" sz="7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7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fusion atau fault tolerance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204307" y="5669280"/>
            <a:ext cx="9052560" cy="59436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87187" y="5715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KESIMPULAN: </a:t>
            </a:r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penelitian yang menggabungkan Rust safe-concurrency + voting fusion + adaptive lockout + event-triggered pada bare-metal ESP32-S3. Metode kami mengisi celah ini secara terintegrasi.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Rust Safe-Concurrency &amp; Mengapa Penting?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81497" y="822960"/>
            <a:ext cx="4572000" cy="521208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4" name="Text 2"/>
          <p:cNvSpPr/>
          <p:nvPr/>
        </p:nvSpPr>
        <p:spPr>
          <a:xfrm>
            <a:off x="1064377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Safe-Concurrency dalam Rust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64377" y="13258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adalah bahasa pemrograman sistem yang menjamin memory safety dan thread safety </a:t>
            </a:r>
            <a:r>
              <a:rPr lang="en-US" sz="950" b="1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garbage collector. Ini dicapai melalui sistem OWNERSHIP dan BORROWING yang diperiksa saat kompilasi.
</a:t>
            </a: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Rules (3 aturan utama):
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Setiap nilai di Rust memiliki SATU pemilik (owner).
2. Hanya boleh ada SATU mutable reference ATAU
    beberapa immutable reference — tidak bisa keduanya.
3. References harus selalu valid (tidak boleh dangling).
</a:t>
            </a: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dicegah oleh sistem ini?
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race — dua thread mengakses data bersamaan,
   salah satunya menulis → TIDAK MUNGKIN di Rust
• Use-after-free — memori sudah dibebaskan tapi
   masih diakses → TIDAK MUNGKIN di Rust
• Double-free — memori dibebaskan dua kali
   → TIDAK MUNGKIN di Rust
• Null pointer dereference — Rust tidak punya null
</a:t>
            </a: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dicek saat KOMPILASI, bukan saat runtime.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perlu garbage collector, tidak perlu runtime overhead.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38504" y="822960"/>
            <a:ext cx="4572000" cy="5212080"/>
          </a:xfrm>
          <a:prstGeom prst="roundRect">
            <a:avLst>
              <a:gd name="adj" fmla="val 16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21384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dalam Sistem Kami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21384" y="132588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safe-concurrency diterapkan di ESP32-S3:
</a:t>
            </a: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Mutex&lt;RefCell&lt;T&gt;&gt; + critical_section
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SystemState (suhu, tekanan, vibrasi, fault, lockout)
   disimpan dalam Mutex&lt;RefCell&lt;SystemState&gt;&gt;
• Setiap akses ke shared state dilakukan di dalam
   blok critical_section::with()
• Saat critical section aktif, SEMUA interrupt
   dinonaktifkan → akses bersifat atomik
• Compiler Rust MEMASTIKAN tidak ada data race
   — jika ada potensi race, kode tidak akan compile.
</a:t>
            </a: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dengan C/C++ (embedded konvensional):
</a:t>
            </a: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C/C++: programmer harus manual lock/unlock mutex.
   Salah urutan → deadlock. Lupa unlock → hang.
• Rust: compiler yang menjamin lock/unlock benar.
   Salah? Kode tidak akan compile.
• C/C++: 186 CVE memory-safety ditemukan (Xu 2021).
   Rust: zero CVE untuk safe code.
</a:t>
            </a: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sistem safety-critical seperti valve kontrol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industri, jaminan </a:t>
            </a:r>
            <a:r>
              <a:rPr lang="en-US" sz="950" b="1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</a:t>
            </a: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KRUSIAL, </a:t>
            </a:r>
            <a:r>
              <a:rPr lang="en-US" sz="950" b="1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</a:t>
            </a: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software</a:t>
            </a:r>
            <a:endParaRPr lang="en-US" sz="9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berakibat fatal pada keselamatan manusia.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182880"/>
            <a:ext cx="95544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yang Diusulkan — Safe-Concurrency Multi-Sensor Fusion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11035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membaca 3 sensor (suhu, tekanan, vibrasi) → voting ≥2/3 → adaptive lockout → aktuator fail-safe. ESP32-S3 bare-metal Rust tanpa unsafe code.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599161" y="1783080"/>
            <a:ext cx="43891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0601" y="1874520"/>
            <a:ext cx="4572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873481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Model: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Mutex&lt;RefCell&lt;T&gt;&gt;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3481" y="2606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 ketiga sensor dilindungi Mutex&lt;RefCell&lt;T&gt;&gt; dengan critical_section. Setiap akses state bersifat atomik — interrupt dinonaktifkan sementara. Model ini menjamin data-race-free TANPA unsafe code. Berbeda dengan C/C++ yang mengandalkan mutex manual (rentan deadlock, priority inversion), Rust menjamin keamanan di waktu kompilasi.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171161" y="1783080"/>
            <a:ext cx="43891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2601" y="1874520"/>
            <a:ext cx="4572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45481" y="1874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Redundansi: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dari 3 Sensor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5481" y="2606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evaluate_sensor_redundancy() menghitung jumlah sensor anomali. Threshold: suhu &gt;80°C, tekanan &lt;900 atau &gt;1200 hPa, vibrasi &gt;500. Jika ≥2 anomali → FAULT. Toleransi 1 sensor gagal — menghindari false positive. Berbeda dengan single-sensor yang langsung fault tanpa verifikasi silang.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99161" y="4069080"/>
            <a:ext cx="43891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0601" y="4160520"/>
            <a:ext cx="45720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873481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Lockout: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500ms / 2000ms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3481" y="4892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tingkat severity. MINOR (2/3 sensor): lockout 500ms — redundansi masih ada. CRITICAL (3/3): lockout 2000ms — semua sensor gagal, butuh waktu lebih lama. Selama lockout, aktuator TETAP aman meskipun sensor normal → mencegah valve bounce.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1161" y="4069080"/>
            <a:ext cx="438912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2601" y="4160520"/>
            <a:ext cx="45720" cy="19202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445481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Hold-Duration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5481" y="48920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GPIO15 + pull-down 10kΩ. Sticky latch — begitu tombol HIGH, latch TRUE sampai fault terproses. Counter hold_count melacak durasi tekan. &lt;5 detik = MINOR (2 sensor). ≥5 detik = CRITICAL (3 sensor + tekanan 0 hPa). Mengatasi timing Proteus (klik mouse milidetik).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 Blok Sistem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Aliran data: sensor → latch → voting → lockout → aktuator → logging</a:t>
            </a:r>
            <a:endParaRPr lang="en-US" sz="1100" dirty="0"/>
          </a:p>
        </p:txBody>
      </p:sp>
      <p:pic>
        <p:nvPicPr>
          <p:cNvPr id="4" name="Image 0" descr="D:/Win/Doc/MAHASISWA/4/PemKom/ETS/Laporan/DB1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" y="914400"/>
            <a:ext cx="89611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187141"/>
            <a:ext cx="112793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membaca diagram: </a:t>
            </a: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sensor (kiri) → Sticky Latch + Hold Counter → Sensor Injection → Voting ≥2/3 → Adaptive Lockout → LED Output (kanan) → CSV Logging → Auto-Recovery
</a:t>
            </a: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machine: NORMAL → FAULT_DETECTED → LOCKOUT (500/2000ms) → LOCKOUT_CLEARED → NORMAL (loop)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Flowchart Algoritma — Alur Lengkap Sistem</a:t>
            </a:r>
            <a:endParaRPr lang="en-US" sz="2400" dirty="0"/>
          </a:p>
        </p:txBody>
      </p:sp>
      <p:pic>
        <p:nvPicPr>
          <p:cNvPr id="3" name="Image 0" descr="D:/Win/Doc/MAHASISWA/4/PemKom/ETS/docs/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043248"/>
            <a:ext cx="1610592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54337" y="777239"/>
            <a:ext cx="2759827" cy="5439641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1498" y="906088"/>
            <a:ext cx="14121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Penjelasan Alur: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791498" y="1188720"/>
            <a:ext cx="2388870" cy="488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→ Baca Tombol GPIO15
   Polling tiap 100ms
</a:t>
            </a: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Button HIGH?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YA → Sticky Latch = TRUE
   hold_count++
   Inject: temp=99, vib=9999
</a:t>
            </a: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hold_count ≥ 50?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YA (≥5s) → Inject press=0 (CRITICAL)
   TIDAK → press tetap 1013 (MINOR)
</a:t>
            </a: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Baca Sensor State
   temp, press, vib → Voting
</a:t>
            </a: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Anomalies ≥ 2?
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YA → FAULT → Set Lockout
   TIDAK → Cek Lockout &gt; 0?
     YA → Lanjut countdown
     TIDAK → NORMAL
</a:t>
            </a: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Lockout Countdown
   -100ms per iterasi
   Selesai → CLEAR → Reset
</a:t>
            </a: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DELAY 100ms → LOOP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Rangkaian Simulasi — Proteus 9.00 VSM</a:t>
            </a:r>
            <a:endParaRPr lang="en-US" sz="2400" dirty="0"/>
          </a:p>
        </p:txBody>
      </p:sp>
      <p:pic>
        <p:nvPicPr>
          <p:cNvPr id="3" name="Image 0" descr="D:/Win/Doc/MAHASISWA/4/PemKom/ETS/Laporan/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52" y="777240"/>
            <a:ext cx="4572000" cy="2377440"/>
          </a:xfrm>
          <a:prstGeom prst="rect">
            <a:avLst/>
          </a:prstGeom>
        </p:spPr>
      </p:pic>
      <p:pic>
        <p:nvPicPr>
          <p:cNvPr id="4" name="Image 1" descr="D:/Win/Doc/MAHASISWA/4/PemKom/ETS/Laporan/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672" y="777240"/>
            <a:ext cx="45720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71352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FAULT: LED Merah (GPIO3) ON, Hijau OFF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317672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LOCKOUT: Merah + Kuning (GPIO5) ON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1471352" y="3566160"/>
            <a:ext cx="4572000" cy="2560320"/>
          </a:xfrm>
          <a:prstGeom prst="roundRect">
            <a:avLst>
              <a:gd name="adj" fmla="val 214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08512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Wiring (Active-High)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228600"/>
              </p:ext>
            </p:extLst>
          </p:nvPr>
        </p:nvGraphicFramePr>
        <p:xfrm>
          <a:off x="1608512" y="4243647"/>
          <a:ext cx="4297680" cy="1188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GPIO3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Merah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Valve tertutup (fault)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GPIO4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Hijau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 normal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GPIO5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Kuning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Lockout aktif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GPIO15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Push-Button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injection (pull-down 10kΩ)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317672" y="3566160"/>
            <a:ext cx="4572000" cy="2560320"/>
          </a:xfrm>
          <a:prstGeom prst="roundRect">
            <a:avLst>
              <a:gd name="adj" fmla="val 214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454832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— Normal vs Injeksi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956178"/>
              </p:ext>
            </p:extLst>
          </p:nvPr>
        </p:nvGraphicFramePr>
        <p:xfrm>
          <a:off x="6454832" y="4243647"/>
          <a:ext cx="4297680" cy="1158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Injeksi MINOR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Injeksi CRITICAL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Suhu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25°C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99°C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99°C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Tekanan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1013 hPa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1013 hPa (normal)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hPa (GAGAL)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Vibrasi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1 — MINOR Fault (Klik Singkat &lt; 5 detik)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45920" y="837507"/>
            <a:ext cx="9144000" cy="2560320"/>
          </a:xfrm>
          <a:prstGeom prst="roundRect">
            <a:avLst>
              <a:gd name="adj" fmla="val 2857"/>
            </a:avLst>
          </a:prstGeom>
          <a:solidFill>
            <a:srgbClr val="FFFBE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005839"/>
            <a:ext cx="8778240" cy="2215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terjadi saat tombol ditekan singkat: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GPIO15 ditekan dan langsung dilepas (durasi &lt; 5 detik).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latch menangkap klik → hold_count mulai dari 1.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diinjeksi: suhu 25→99°C (&gt;threshold 80°C), vibrasi 5→9999 (&gt;threshold 500).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TETAP 1013 hPa (dalam range 900-1200) — hold_count &lt; 50.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Voting: 2 sensor anomali (suhu + vibrasi) ≥ quorum 2/3 → FAULT DETECTED.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Klasifikasi: 2/3 anomali → MINOR → lockout 500 ms.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Merah (GPIO3) ON, Hijau (GPIO4) OFF, Kuning (GPIO5) ON.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Countdown: 500→400→300→200→100→0 ms.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 CLEARED: sensor di-reset, LED Merah OFF, Kuning OFF, Hijau 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3580707"/>
            <a:ext cx="9144000" cy="256032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367214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CSV dari Debug Console Proteus: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3460174"/>
            <a:ext cx="8778240" cy="29562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  temp  press  vib   lat  status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    99   1013   9999   45  FAULT_DETECTED(MINOR,2/3)    ← fault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   99   1013   9999    0  LOCKOUT_ACTIVE(400ms)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    99   1013   9999    0  LOCKOUT_ACTIVE(300ms)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    99   1013   9999    0  LOCKOUT_ACTIVE(200ms)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    99   1013   9999    0  LOCKOUT_ACTIVE(100ms)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9    99   1013   9999    0  LOCKOUT_CLEARED                ← 5 iter = 500ms ✓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Skenario 2 — CRITICAL Fault (Tahan ≥ 5 detik)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14747" y="914400"/>
            <a:ext cx="9144000" cy="2560320"/>
          </a:xfrm>
          <a:prstGeom prst="roundRect">
            <a:avLst>
              <a:gd name="adj" fmla="val 2857"/>
            </a:avLst>
          </a:prstGeom>
          <a:solidFill>
            <a:srgbClr val="FEF2F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97627" y="1054677"/>
            <a:ext cx="8778240" cy="222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terjadi saat tombol DITAHAN ≥ 5 detik: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 GPIO15 ditekan dan DITAHAN. hold_count mulai naik.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0–5 detik: hold_count 1→49. Sistem mendeteksi MINOR berulang.
</a:t>
            </a: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Detik ke-5 (hold_count=50): TRIGGER CRITICAL!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diinjeksi: suhu 99°C, vibrasi 9999, DAN tekanan 0 hPa.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 0 hPa = SIMULASI KEGAGALAN TOTAL sensor tekanan.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Voting: 3 sensor anomali = SEMUA GAGAL → CRITICAL FAULT.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Lockout 2000 ms (4× lebih lama dari MINOR) — 20 iterasi.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Merah ON, Kuning ON — sistem AMAN selama 2 detik penuh.
</a:t>
            </a: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2000ms: CLEARED, sensor reset, kembali NORMAL.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14747" y="3657600"/>
            <a:ext cx="9144000" cy="256032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797627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CSV dari Debug Console Proteus: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97627" y="40690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  temp  press  vib   lat  status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107   99    0     9999   45  FAULT_DETECTED(CRITICAL,3/3)   ← press=0!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108   99    0     9999    0  LOCKOUT_ACTIVE(1900ms)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109   99    0     9999    0  LOCKOUT_ACTIVE(1800ms)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126   99    0     9999    0  LOCKOUT_ACTIVE(100ms)</a:t>
            </a:r>
            <a:endParaRPr lang="en-US" sz="9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127   99    0     9999    0  LOCKOUT_CLEARED                 ← 20 iter = 2000ms ✓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644" y="170931"/>
            <a:ext cx="909724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MINOR vs CRITICAL — Adaptive Lockout Terbukti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9144000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Kesimpulan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Klik &lt; 5 detik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Tahan ≥ 5 detik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Durasi tekan → severity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Anomali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dari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(suhu + vibrasi)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dari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(semua sensor)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Jumlah anomali → lockout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1013 hPa (normal)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hPa (GAGAL TOTAL)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hPa = simulasi kerusakan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Lockout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2000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4× lebih lama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Iterasi @100ms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iterasi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iterasi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Konsisten dgn durasi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Merah+Kuning 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Merah+Kuning 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 sama, durasi beda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Signature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MINOR,2/3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CRITICAL,3/3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severity di 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µs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µs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Konsisten semua fault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74320" y="4961658"/>
            <a:ext cx="9144000" cy="1423555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80060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ADAPTIVE LOCKOUT:
</a:t>
            </a: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Tombol SAMA, durasi BERBEDA → severity BERBEDA → lockout BERBEDA.
• MINOR: 500ms (5 iter) — recovery cepat, redundansi masih ada.
• CRITICAL: 2000ms (20 iter) — 4× lebih lama, semua sensor gagal.
• Valve bounce TIDAK TERJADI — aktuator aman selama lockout.
• Data dari Proteus, diverifikasi python/analyze.py — TANPA REKAYASA.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Data — GNUPlot 5-Panel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membaca grafik: setiap panel menunjukkan aspek berbeda dari perilaku sistem. Data dari simulation_data.dat (319 iterasi).</a:t>
            </a:r>
            <a:endParaRPr lang="en-US" sz="900" dirty="0"/>
          </a:p>
        </p:txBody>
      </p:sp>
      <p:pic>
        <p:nvPicPr>
          <p:cNvPr id="4" name="Image 0" descr="D:/Win/Doc/MAHASISWA/4/PemKom/ETS/Laporan/sensor_fusion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37" y="1463675"/>
            <a:ext cx="7299779" cy="3930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98568" y="649951"/>
            <a:ext cx="3383280" cy="5796569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6" name="Text 3"/>
          <p:cNvSpPr/>
          <p:nvPr/>
        </p:nvSpPr>
        <p:spPr>
          <a:xfrm>
            <a:off x="8500803" y="7772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1 — Multi-Sensor Readings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00803" y="10515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Garis KUNING = suhu (°C)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Garis HIJAU = vibrasi (dibagi 100)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Garis putus MERAH = threshold 80°C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Spike tajam = tombol ditekan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(suhu 25→99, vibrasi 5→9999)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Terlihat suhu &amp; vibrasi selalu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naik bersamaan saat fault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500803" y="2482596"/>
            <a:ext cx="3108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6"/>
          <p:cNvSpPr/>
          <p:nvPr/>
        </p:nvSpPr>
        <p:spPr>
          <a:xfrm>
            <a:off x="8500803" y="25228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 — Recovery Latency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0803" y="2756137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Garis BIRU = latensi (µs)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Garis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putus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MERAH = safety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threshold 5µs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Nilai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terukur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45µs — overhead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MicroPython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interpreter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Prediksi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Rust bare-metal: &lt;5µs</a:t>
            </a:r>
            <a:endParaRPr lang="en-US" sz="8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resolusi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TIMG0 12.5ns/tick)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00803" y="4192778"/>
            <a:ext cx="3108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8490008" y="4297681"/>
            <a:ext cx="3108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3 — Status Timeline</a:t>
            </a:r>
            <a:endParaRPr lang="en-US" sz="10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5984CF1-B009-AD4A-8201-3146E1D6061B}"/>
              </a:ext>
            </a:extLst>
          </p:cNvPr>
          <p:cNvSpPr/>
          <p:nvPr/>
        </p:nvSpPr>
        <p:spPr>
          <a:xfrm>
            <a:off x="8535728" y="4434841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Menampilkan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status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iterasi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(0 s/d 319)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Sumbu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Y: 0 = NORMAL, 1 = FAULT, 2 = LOCKOUT, 3 = CLEARED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Garis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oranye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transisi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status system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Terlihat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NORMAL → spike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FAULT → plateau LOCKOUT → CLEARED →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kembali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pendek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(1-2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iterasi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MINOR (500ms)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Plateau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panjang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CRITICAL (2000ms)</a:t>
            </a:r>
          </a:p>
          <a:p>
            <a:pPr marL="171450" indent="-171450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berulang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kali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tombol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ditekan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deterministik</a:t>
            </a:r>
            <a:endParaRPr lang="en-US" sz="85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E37DB-9362-C54C-9504-A38A69AA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022F41-9445-D512-2908-5535C1BF95DF}"/>
              </a:ext>
            </a:extLst>
          </p:cNvPr>
          <p:cNvSpPr/>
          <p:nvPr/>
        </p:nvSpPr>
        <p:spPr>
          <a:xfrm>
            <a:off x="38100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Visualisasi Data — GNUPlot 5-Panel Analysis</a:t>
            </a:r>
            <a:endParaRPr lang="en-US" sz="2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9D018C-CE57-E97A-EE34-8C99BF55CF88}"/>
              </a:ext>
            </a:extLst>
          </p:cNvPr>
          <p:cNvSpPr/>
          <p:nvPr/>
        </p:nvSpPr>
        <p:spPr>
          <a:xfrm>
            <a:off x="381000" y="746884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Bagaimana membaca grafik: setiap panel menunjukkan aspek berbeda dari perilaku sistem. Data dari simulation_data.dat (319 iterasi).</a:t>
            </a:r>
            <a:endParaRPr lang="en-US" sz="900" dirty="0"/>
          </a:p>
        </p:txBody>
      </p:sp>
      <p:pic>
        <p:nvPicPr>
          <p:cNvPr id="14" name="Image 1" descr="D:/Win/Doc/MAHASISWA/4/PemKom/ETS/Laporan/latency_analysis.png">
            <a:extLst>
              <a:ext uri="{FF2B5EF4-FFF2-40B4-BE49-F238E27FC236}">
                <a16:creationId xmlns:a16="http://schemas.microsoft.com/office/drawing/2014/main" id="{27714F97-EB5A-0BF8-1420-C24F405A0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932" y="1830067"/>
            <a:ext cx="2926080" cy="1828800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3A59761E-B74B-F0C1-B592-68BAAEFBA9FC}"/>
              </a:ext>
            </a:extLst>
          </p:cNvPr>
          <p:cNvSpPr/>
          <p:nvPr/>
        </p:nvSpPr>
        <p:spPr>
          <a:xfrm>
            <a:off x="981652" y="3753482"/>
            <a:ext cx="2834640" cy="27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Detail
</a:t>
            </a:r>
            <a:endParaRPr lang="en-US" sz="800" dirty="0"/>
          </a:p>
        </p:txBody>
      </p:sp>
      <p:pic>
        <p:nvPicPr>
          <p:cNvPr id="18" name="Image 2" descr="D:/Win/Doc/MAHASISWA/4/PemKom/ETS/Laporan/state_timeline.png">
            <a:extLst>
              <a:ext uri="{FF2B5EF4-FFF2-40B4-BE49-F238E27FC236}">
                <a16:creationId xmlns:a16="http://schemas.microsoft.com/office/drawing/2014/main" id="{8CA339A5-30B5-6644-7D10-A26B74E01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811" y="1830067"/>
            <a:ext cx="2926080" cy="1828800"/>
          </a:xfrm>
          <a:prstGeom prst="rect">
            <a:avLst/>
          </a:prstGeom>
        </p:spPr>
      </p:pic>
      <p:sp>
        <p:nvSpPr>
          <p:cNvPr id="20" name="Text 11">
            <a:extLst>
              <a:ext uri="{FF2B5EF4-FFF2-40B4-BE49-F238E27FC236}">
                <a16:creationId xmlns:a16="http://schemas.microsoft.com/office/drawing/2014/main" id="{92EAF0DA-C87E-3AF0-0CCF-B18D1104E3BB}"/>
              </a:ext>
            </a:extLst>
          </p:cNvPr>
          <p:cNvSpPr/>
          <p:nvPr/>
        </p:nvSpPr>
        <p:spPr>
          <a:xfrm>
            <a:off x="4593531" y="3753482"/>
            <a:ext cx="2834640" cy="2705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Timeline
</a:t>
            </a:r>
            <a:endParaRPr lang="en-US" sz="800" dirty="0"/>
          </a:p>
        </p:txBody>
      </p:sp>
      <p:pic>
        <p:nvPicPr>
          <p:cNvPr id="22" name="Image 3" descr="D:/Win/Doc/MAHASISWA/4/PemKom/ETS/Laporan/voting_heatmap.png">
            <a:extLst>
              <a:ext uri="{FF2B5EF4-FFF2-40B4-BE49-F238E27FC236}">
                <a16:creationId xmlns:a16="http://schemas.microsoft.com/office/drawing/2014/main" id="{4BE95DCE-476E-5F7C-7421-2A2FD5843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90" y="1830068"/>
            <a:ext cx="3200400" cy="1828800"/>
          </a:xfrm>
          <a:prstGeom prst="rect">
            <a:avLst/>
          </a:prstGeom>
        </p:spPr>
      </p:pic>
      <p:sp>
        <p:nvSpPr>
          <p:cNvPr id="24" name="Text 12">
            <a:extLst>
              <a:ext uri="{FF2B5EF4-FFF2-40B4-BE49-F238E27FC236}">
                <a16:creationId xmlns:a16="http://schemas.microsoft.com/office/drawing/2014/main" id="{ABCE9946-41A8-FD7C-30E7-4ADA321537FA}"/>
              </a:ext>
            </a:extLst>
          </p:cNvPr>
          <p:cNvSpPr/>
          <p:nvPr/>
        </p:nvSpPr>
        <p:spPr>
          <a:xfrm>
            <a:off x="8342570" y="3778882"/>
            <a:ext cx="2834639" cy="222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Heatmap
</a:t>
            </a:r>
            <a:endParaRPr lang="en-US" sz="8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E0C4A679-456F-5091-D3AC-0519B9BC7223}"/>
              </a:ext>
            </a:extLst>
          </p:cNvPr>
          <p:cNvSpPr/>
          <p:nvPr/>
        </p:nvSpPr>
        <p:spPr>
          <a:xfrm>
            <a:off x="1495813" y="4118607"/>
            <a:ext cx="180631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Zoom-in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latensi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Menunjukkan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konsistensi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45µs di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fault event.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variasi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bersifat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deterministik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064C0BE-1E37-FE8E-4E86-3126B3EFA619}"/>
              </a:ext>
            </a:extLst>
          </p:cNvPr>
          <p:cNvSpPr/>
          <p:nvPr/>
        </p:nvSpPr>
        <p:spPr>
          <a:xfrm>
            <a:off x="4547811" y="4023992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berwarna:</a:t>
            </a:r>
            <a:endParaRPr lang="en-US" sz="8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HIJAU = fase NORMAL</a:t>
            </a:r>
            <a:endParaRPr lang="en-US" sz="8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MERAH/ORANYE = siklus</a:t>
            </a:r>
            <a:endParaRPr lang="en-US" sz="8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fault-lockout.</a:t>
            </a:r>
            <a:endParaRPr lang="en-US" sz="8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berulang deterministik</a:t>
            </a:r>
            <a:endParaRPr lang="en-US" sz="8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tombol ditekan kontinu.</a:t>
            </a:r>
            <a:endParaRPr lang="en-US" sz="8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BFD7B0BE-0D53-0ADA-924F-3F442FC37CC7}"/>
              </a:ext>
            </a:extLst>
          </p:cNvPr>
          <p:cNvSpPr/>
          <p:nvPr/>
        </p:nvSpPr>
        <p:spPr>
          <a:xfrm>
            <a:off x="8414007" y="4023992"/>
            <a:ext cx="2689285" cy="755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baris = 3 sensor: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Atas: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suhu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(&gt;80°C)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Tengah: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tekanan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(&lt;900</a:t>
            </a:r>
            <a:r>
              <a:rPr lang="en-US" sz="800" dirty="0"/>
              <a:t>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&gt;1200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00" dirty="0"/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Bawah: </a:t>
            </a:r>
            <a:r>
              <a:rPr lang="en-US" sz="8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vibrasi</a:t>
            </a: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(&gt;500)</a:t>
            </a:r>
            <a:endParaRPr lang="en-US" sz="800" dirty="0"/>
          </a:p>
        </p:txBody>
      </p:sp>
      <p:sp>
        <p:nvSpPr>
          <p:cNvPr id="34" name="Kotak Teks 33">
            <a:extLst>
              <a:ext uri="{FF2B5EF4-FFF2-40B4-BE49-F238E27FC236}">
                <a16:creationId xmlns:a16="http://schemas.microsoft.com/office/drawing/2014/main" id="{747BC1EE-8F60-F9D3-6C91-F12F069FFB93}"/>
              </a:ext>
            </a:extLst>
          </p:cNvPr>
          <p:cNvSpPr txBox="1"/>
          <p:nvPr/>
        </p:nvSpPr>
        <p:spPr>
          <a:xfrm>
            <a:off x="8928169" y="4779325"/>
            <a:ext cx="1657350" cy="1074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Merah = </a:t>
            </a: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anomali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Biru = normal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00"/>
              </a:lnSpc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00"/>
              </a:lnSpc>
            </a:pP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Terlihat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tekanan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hanya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00"/>
              </a:lnSpc>
            </a:pP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merah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saat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CRITICAL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1300"/>
              </a:lnSpc>
            </a:pP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</a:t>
            </a: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tahan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≥5 </a:t>
            </a:r>
            <a:r>
              <a:rPr lang="en-US" sz="800" dirty="0" err="1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detik</a:t>
            </a:r>
            <a:r>
              <a:rPr lang="en-US" sz="800" dirty="0">
                <a:solidFill>
                  <a:srgbClr val="CBD5E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).</a:t>
            </a:r>
            <a:endParaRPr lang="en-ID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171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Keunggulan Metode vs Penelitian Sebelumnya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547482"/>
              </p:ext>
            </p:extLst>
          </p:nvPr>
        </p:nvGraphicFramePr>
        <p:xfrm>
          <a:off x="1386840" y="725285"/>
          <a:ext cx="9418320" cy="4937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Metode Kami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J14 (Desikan 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J17 (Bruneo 2022)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J21 (Radovici 2022)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Rust compile-time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CVE surface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dibahas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(C/C++ assumed)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dibahas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Rust-based Tock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(OS-level, bukan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bare-metal)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Concurrency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Mutex&lt;RefCell&lt;T&gt;&gt;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critical_section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mekanisme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Single-thread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ESN processing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eBPF + Tock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(kernel-space,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kompleks)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Voting ≥2/3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quorum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Dynamic threshold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(single-sensor)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ESN anomaly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detection (ML-heavy)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sensor fusion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Fail-Safe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Adaptive Lockout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500/2000ms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fail-safe actuator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lockout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Hardware timer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45µs (MicroPython)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Tidak diukur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ESN inference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(tidak real-time)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3× faster interrupt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(vs Linux, bukan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bare-metal)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Dokumentasi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LaTeX 25 ref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GNUPlot 5 panel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analysis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Paper terstruktur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(tanpa kode)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Paper + eksperimen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(Matlab, tidak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Paper + benchmark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(kode OS, bukan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aplikasi)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1386840" y="5800205"/>
            <a:ext cx="941832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69720" y="5845925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Kontribusi Orisinal: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penelitian yang mengintegrasikan Rust bare-metal + voting fusion + adaptive lockout dalam satu sistem. Metode kami menjembatani celah antara formal verification Rust (J18, J19, J23) dengan implementasi praktis pada embedded system (J24). Hasil simulasi MEMBUKTIKAN adaptive lockout bekerja — tanpa rekayasa data.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Kesimpulan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51907"/>
            <a:ext cx="8686800" cy="26798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Celah riset: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jurnal (2021-2026) — tidak ada yang integrasikan Rust safe-concurrency + voting fusion + adaptive lockout.
</a:t>
            </a: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Metode: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Safe-Concurrency Multi-Sensor Fusion — Mutex&lt;RefCell&lt;T&gt;&gt;, voting ≥2/3, adaptive lockout 500/2000ms, hold-duration detection.
</a:t>
            </a: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300" b="1" dirty="0" err="1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Simulasi</a:t>
            </a: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Membuktikan</a:t>
            </a: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 iterasi Proteus VSM. 5 MINOR (500ms) + 3 CRITICAL (2000ms). Python verify.
</a:t>
            </a: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Keunggulan vs literatur: </a:t>
            </a: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safety (Rust), voting redundancy, adaptive lockout, event-triggered.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52600" y="6163887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Abdurrauf Almutawakkil — NRP 2042241115 — Teknik Instrumentasi ITS — 2025/2026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2917</Words>
  <Application>Microsoft Office PowerPoint</Application>
  <PresentationFormat>Layar Lebar</PresentationFormat>
  <Paragraphs>327</Paragraphs>
  <Slides>14</Slides>
  <Notes>14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Safe-Concurrency Multi-Sensor Fusion</dc:title>
  <dc:subject>PptxGenJS Presentation</dc:subject>
  <dc:creator>Abdurrauf Almutawakkil</dc:creator>
  <cp:lastModifiedBy>abdurrauf al</cp:lastModifiedBy>
  <cp:revision>7</cp:revision>
  <dcterms:created xsi:type="dcterms:W3CDTF">2026-06-18T10:13:46Z</dcterms:created>
  <dcterms:modified xsi:type="dcterms:W3CDTF">2026-06-18T10:51:12Z</dcterms:modified>
</cp:coreProperties>
</file>