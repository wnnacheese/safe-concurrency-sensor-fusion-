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914400"/>
            <a:ext cx="7772400" cy="2377440"/>
          </a:xfrm>
          <a:prstGeom prst="rect">
            <a:avLst/>
          </a:prstGeom>
          <a:noFill/>
          <a:ln/>
        </p:spPr>
        <p:txBody>
          <a:bodyPr wrap="square" rtlCol="0" anchor="ctr"/>
          <a:lstStyle/>
          <a:p>
            <a:pPr indent="0" marL="0">
              <a:lnSpc>
                <a:spcPts val="4400"/>
              </a:lnSpc>
              <a:buNone/>
            </a:pPr>
            <a:r>
              <a:rPr lang="en-US" sz="3600" b="1" dirty="0">
                <a:solidFill>
                  <a:srgbClr val="FFFFFF"/>
                </a:solidFill>
                <a:latin typeface="Arial" pitchFamily="34" charset="0"/>
                <a:ea typeface="Arial" pitchFamily="34" charset="-122"/>
                <a:cs typeface="Arial" pitchFamily="34" charset="-120"/>
              </a:rPr>
              <a:t>Safe-Concurrency untuk Multi-Sensor Fusion</a:t>
            </a:r>
            <a:endParaRPr lang="en-US" sz="3600" dirty="0"/>
          </a:p>
          <a:p>
            <a:pPr indent="0" marL="0">
              <a:lnSpc>
                <a:spcPts val="4400"/>
              </a:lnSpc>
              <a:buNone/>
            </a:pPr>
            <a:r>
              <a:rPr lang="en-US" sz="3600" b="1" dirty="0">
                <a:solidFill>
                  <a:srgbClr val="FFFFFF"/>
                </a:solidFill>
                <a:latin typeface="Arial" pitchFamily="34" charset="0"/>
                <a:ea typeface="Arial" pitchFamily="34" charset="-122"/>
                <a:cs typeface="Arial" pitchFamily="34" charset="-120"/>
              </a:rPr>
              <a:t>pada Sistem Industrial Safety-Critical</a:t>
            </a:r>
            <a:endParaRPr lang="en-US" sz="3600" dirty="0"/>
          </a:p>
        </p:txBody>
      </p:sp>
      <p:sp>
        <p:nvSpPr>
          <p:cNvPr id="3" name="Shape 1"/>
          <p:cNvSpPr/>
          <p:nvPr/>
        </p:nvSpPr>
        <p:spPr>
          <a:xfrm>
            <a:off x="731520" y="3383280"/>
            <a:ext cx="2743200" cy="36576"/>
          </a:xfrm>
          <a:prstGeom prst="rect">
            <a:avLst/>
          </a:prstGeom>
          <a:solidFill>
            <a:srgbClr val="38BDF8"/>
          </a:solidFill>
          <a:ln/>
        </p:spPr>
      </p:sp>
      <p:sp>
        <p:nvSpPr>
          <p:cNvPr id="4" name="Text 2"/>
          <p:cNvSpPr/>
          <p:nvPr/>
        </p:nvSpPr>
        <p:spPr>
          <a:xfrm>
            <a:off x="731520" y="3657600"/>
            <a:ext cx="7772400" cy="1645920"/>
          </a:xfrm>
          <a:prstGeom prst="rect">
            <a:avLst/>
          </a:prstGeom>
          <a:noFill/>
          <a:ln/>
        </p:spPr>
        <p:txBody>
          <a:bodyPr wrap="square" rtlCol="0" anchor="ctr"/>
          <a:lstStyle/>
          <a:p>
            <a:pPr indent="0" marL="0">
              <a:lnSpc>
                <a:spcPts val="2200"/>
              </a:lnSpc>
              <a:buNone/>
            </a:pPr>
            <a:r>
              <a:rPr lang="en-US" sz="1400" dirty="0">
                <a:solidFill>
                  <a:srgbClr val="94A3B8"/>
                </a:solidFill>
                <a:latin typeface="Arial" pitchFamily="34" charset="0"/>
                <a:ea typeface="Arial" pitchFamily="34" charset="-122"/>
                <a:cs typeface="Arial" pitchFamily="34" charset="-120"/>
              </a:rPr>
              <a:t>ESP32-S3 Bare-Metal Rust  |  Voting ≥2/3  |  Adaptive Lockout 500/2000ms
</a:t>
            </a:r>
            <a:pPr indent="0" marL="0">
              <a:lnSpc>
                <a:spcPts val="2200"/>
              </a:lnSpc>
              <a:buNone/>
            </a:pPr>
            <a:r>
              <a:rPr lang="en-US" sz="1200" dirty="0">
                <a:solidFill>
                  <a:srgbClr val="64748B"/>
                </a:solidFill>
                <a:latin typeface="Arial" pitchFamily="34" charset="0"/>
                <a:ea typeface="Arial" pitchFamily="34" charset="-122"/>
                <a:cs typeface="Arial" pitchFamily="34" charset="-120"/>
              </a:rPr>
              <a:t>Evaluasi Tengah Semester — Pemrograman Kontroller
</a:t>
            </a:r>
            <a:pPr indent="0" marL="0">
              <a:lnSpc>
                <a:spcPts val="2200"/>
              </a:lnSpc>
              <a:buNone/>
            </a:pPr>
            <a:r>
              <a:rPr lang="en-US" sz="1100" dirty="0">
                <a:solidFill>
                  <a:srgbClr val="475569"/>
                </a:solidFill>
                <a:latin typeface="Arial" pitchFamily="34" charset="0"/>
                <a:ea typeface="Arial" pitchFamily="34" charset="-122"/>
                <a:cs typeface="Arial" pitchFamily="34" charset="-120"/>
              </a:rPr>
              <a:t>Abdurrauf Almutawakkil — NRP 2042241115 — Teknik Instrumentasi ITS</a:t>
            </a:r>
            <a:endParaRPr lang="en-US" sz="1400" dirty="0"/>
          </a:p>
          <a:p>
            <a:pPr indent="0" marL="0">
              <a:lnSpc>
                <a:spcPts val="2200"/>
              </a:lnSpc>
              <a:buNone/>
            </a:pPr>
            <a:r>
              <a:rPr lang="en-US" sz="1100" dirty="0">
                <a:solidFill>
                  <a:srgbClr val="475569"/>
                </a:solidFill>
                <a:latin typeface="Arial" pitchFamily="34" charset="0"/>
                <a:ea typeface="Arial" pitchFamily="34" charset="-122"/>
                <a:cs typeface="Arial" pitchFamily="34" charset="-120"/>
              </a:rPr>
              <a:t>Dosen Pengampu: Ahmad Radhy, S.Si., M.Si.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6868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Latar Belakang — Apa yang Sudah Diteliti &amp; Di Mana Celahnya?</a:t>
            </a:r>
            <a:endParaRPr lang="en-US" sz="2200" dirty="0"/>
          </a:p>
        </p:txBody>
      </p:sp>
      <p:sp>
        <p:nvSpPr>
          <p:cNvPr id="3" name="Text 1"/>
          <p:cNvSpPr/>
          <p:nvPr/>
        </p:nvSpPr>
        <p:spPr>
          <a:xfrm>
            <a:off x="457200" y="685800"/>
            <a:ext cx="8686800" cy="32004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Berdasarkan 25 jurnal Scopus/WoS (2021–2026), kami mengidentifikasi 5 area future work yang belum terselesaikan:</a:t>
            </a:r>
            <a:endParaRPr lang="en-US" sz="1100" dirty="0"/>
          </a:p>
        </p:txBody>
      </p:sp>
      <p:sp>
        <p:nvSpPr>
          <p:cNvPr id="4" name="Shape 2"/>
          <p:cNvSpPr/>
          <p:nvPr/>
        </p:nvSpPr>
        <p:spPr>
          <a:xfrm>
            <a:off x="274320" y="1143000"/>
            <a:ext cx="1664208" cy="4389120"/>
          </a:xfrm>
          <a:prstGeom prst="roundRect">
            <a:avLst>
              <a:gd name="adj" fmla="val 3297"/>
            </a:avLst>
          </a:prstGeom>
          <a:solidFill>
            <a:srgbClr val="F8FAFC"/>
          </a:solidFill>
          <a:ln w="6350">
            <a:solidFill>
              <a:srgbClr val="E2E8F0"/>
            </a:solidFill>
            <a:prstDash val="solid"/>
          </a:ln>
        </p:spPr>
      </p:sp>
      <p:sp>
        <p:nvSpPr>
          <p:cNvPr id="5" name="Shape 3"/>
          <p:cNvSpPr/>
          <p:nvPr/>
        </p:nvSpPr>
        <p:spPr>
          <a:xfrm>
            <a:off x="365760" y="1234440"/>
            <a:ext cx="1481328" cy="365760"/>
          </a:xfrm>
          <a:prstGeom prst="roundRect">
            <a:avLst>
              <a:gd name="adj" fmla="val 10000"/>
            </a:avLst>
          </a:prstGeom>
          <a:solidFill>
            <a:srgbClr val="3B82F6"/>
          </a:solidFill>
          <a:ln/>
        </p:spPr>
      </p:sp>
      <p:sp>
        <p:nvSpPr>
          <p:cNvPr id="6" name="Text 4"/>
          <p:cNvSpPr/>
          <p:nvPr/>
        </p:nvSpPr>
        <p:spPr>
          <a:xfrm>
            <a:off x="365760" y="1234440"/>
            <a:ext cx="1481328"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FW12</a:t>
            </a:r>
            <a:endParaRPr lang="en-US" sz="1100" dirty="0"/>
          </a:p>
        </p:txBody>
      </p:sp>
      <p:sp>
        <p:nvSpPr>
          <p:cNvPr id="7" name="Text 5"/>
          <p:cNvSpPr/>
          <p:nvPr/>
        </p:nvSpPr>
        <p:spPr>
          <a:xfrm>
            <a:off x="365760" y="1691640"/>
            <a:ext cx="1481328" cy="45720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HW-SW Co-Design</a:t>
            </a:r>
            <a:endParaRPr lang="en-US" sz="850" dirty="0"/>
          </a:p>
          <a:p>
            <a:pPr algn="ctr" indent="0" marL="0">
              <a:buNone/>
            </a:pPr>
            <a:r>
              <a:rPr lang="en-US" sz="850" b="1" dirty="0">
                <a:solidFill>
                  <a:srgbClr val="0F172A"/>
                </a:solidFill>
                <a:latin typeface="Arial" pitchFamily="34" charset="0"/>
                <a:ea typeface="Arial" pitchFamily="34" charset="-122"/>
                <a:cs typeface="Arial" pitchFamily="34" charset="-120"/>
              </a:rPr>
              <a:t>Fault-Tolerant Fusion</a:t>
            </a:r>
            <a:endParaRPr lang="en-US" sz="850" dirty="0"/>
          </a:p>
        </p:txBody>
      </p:sp>
      <p:sp>
        <p:nvSpPr>
          <p:cNvPr id="8" name="Text 6"/>
          <p:cNvSpPr/>
          <p:nvPr/>
        </p:nvSpPr>
        <p:spPr>
          <a:xfrm>
            <a:off x="365760" y="2194560"/>
            <a:ext cx="1481328" cy="457200"/>
          </a:xfrm>
          <a:prstGeom prst="rect">
            <a:avLst/>
          </a:prstGeom>
          <a:noFill/>
          <a:ln/>
        </p:spPr>
        <p:txBody>
          <a:bodyPr wrap="square" rtlCol="0" anchor="ctr"/>
          <a:lstStyle/>
          <a:p>
            <a:pPr algn="ctr" indent="0" marL="0">
              <a:buNone/>
            </a:pPr>
            <a:r>
              <a:rPr lang="en-US" sz="700" i="1" dirty="0">
                <a:solidFill>
                  <a:srgbClr val="94A3B8"/>
                </a:solidFill>
                <a:latin typeface="Arial" pitchFamily="34" charset="0"/>
                <a:ea typeface="Arial" pitchFamily="34" charset="-122"/>
                <a:cs typeface="Arial" pitchFamily="34" charset="-120"/>
              </a:rPr>
              <a:t>Matos et al. (2024) — Survey kegagalan sensor pada autonomous vehicles</a:t>
            </a:r>
            <a:endParaRPr lang="en-US" sz="700" dirty="0"/>
          </a:p>
        </p:txBody>
      </p:sp>
      <p:sp>
        <p:nvSpPr>
          <p:cNvPr id="9" name="Shape 7"/>
          <p:cNvSpPr/>
          <p:nvPr/>
        </p:nvSpPr>
        <p:spPr>
          <a:xfrm>
            <a:off x="548640" y="2697480"/>
            <a:ext cx="1115568" cy="13716"/>
          </a:xfrm>
          <a:prstGeom prst="rect">
            <a:avLst/>
          </a:prstGeom>
          <a:solidFill>
            <a:srgbClr val="E2E8F0"/>
          </a:solidFill>
          <a:ln/>
        </p:spPr>
      </p:sp>
      <p:sp>
        <p:nvSpPr>
          <p:cNvPr id="10" name="Text 8"/>
          <p:cNvSpPr/>
          <p:nvPr/>
        </p:nvSpPr>
        <p:spPr>
          <a:xfrm>
            <a:off x="365760" y="2788920"/>
            <a:ext cx="1481328" cy="2651760"/>
          </a:xfrm>
          <a:prstGeom prst="rect">
            <a:avLst/>
          </a:prstGeom>
          <a:noFill/>
          <a:ln/>
        </p:spPr>
        <p:txBody>
          <a:bodyPr wrap="square" rtlCol="0" anchor="t"/>
          <a:lstStyle/>
          <a:p>
            <a:pPr indent="0" marL="0">
              <a:lnSpc>
                <a:spcPts val="1300"/>
              </a:lnSpc>
              <a:buNone/>
            </a:pPr>
            <a:r>
              <a:rPr lang="en-US" sz="750" dirty="0">
                <a:solidFill>
                  <a:srgbClr val="334155"/>
                </a:solidFill>
                <a:latin typeface="Arial" pitchFamily="34" charset="0"/>
                <a:ea typeface="Arial" pitchFamily="34" charset="-122"/>
                <a:cs typeface="Arial" pitchFamily="34" charset="-120"/>
              </a:rPr>
              <a:t>• Membahas taksonomi kegagalan sensor di AV</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Mengusulkan fault-tolerant fusion hw-sw co-design</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Kelemahan: Hanya berupa usulan konseptual, belum ada implementasi nyata di embedded MCU</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Tidak ada mekanisme lockout atau voting redundancy</a:t>
            </a:r>
            <a:endParaRPr lang="en-US" sz="750" dirty="0"/>
          </a:p>
        </p:txBody>
      </p:sp>
      <p:sp>
        <p:nvSpPr>
          <p:cNvPr id="11" name="Shape 9"/>
          <p:cNvSpPr/>
          <p:nvPr/>
        </p:nvSpPr>
        <p:spPr>
          <a:xfrm>
            <a:off x="2057400" y="1143000"/>
            <a:ext cx="1664208" cy="4389120"/>
          </a:xfrm>
          <a:prstGeom prst="roundRect">
            <a:avLst>
              <a:gd name="adj" fmla="val 3297"/>
            </a:avLst>
          </a:prstGeom>
          <a:solidFill>
            <a:srgbClr val="F8FAFC"/>
          </a:solidFill>
          <a:ln w="6350">
            <a:solidFill>
              <a:srgbClr val="E2E8F0"/>
            </a:solidFill>
            <a:prstDash val="solid"/>
          </a:ln>
        </p:spPr>
      </p:sp>
      <p:sp>
        <p:nvSpPr>
          <p:cNvPr id="12" name="Shape 10"/>
          <p:cNvSpPr/>
          <p:nvPr/>
        </p:nvSpPr>
        <p:spPr>
          <a:xfrm>
            <a:off x="2148840" y="1234440"/>
            <a:ext cx="1481328" cy="365760"/>
          </a:xfrm>
          <a:prstGeom prst="roundRect">
            <a:avLst>
              <a:gd name="adj" fmla="val 10000"/>
            </a:avLst>
          </a:prstGeom>
          <a:solidFill>
            <a:srgbClr val="F59E0B"/>
          </a:solidFill>
          <a:ln/>
        </p:spPr>
      </p:sp>
      <p:sp>
        <p:nvSpPr>
          <p:cNvPr id="13" name="Text 11"/>
          <p:cNvSpPr/>
          <p:nvPr/>
        </p:nvSpPr>
        <p:spPr>
          <a:xfrm>
            <a:off x="2148840" y="1234440"/>
            <a:ext cx="1481328"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FW17</a:t>
            </a:r>
            <a:endParaRPr lang="en-US" sz="1100" dirty="0"/>
          </a:p>
        </p:txBody>
      </p:sp>
      <p:sp>
        <p:nvSpPr>
          <p:cNvPr id="14" name="Text 12"/>
          <p:cNvSpPr/>
          <p:nvPr/>
        </p:nvSpPr>
        <p:spPr>
          <a:xfrm>
            <a:off x="2148840" y="1691640"/>
            <a:ext cx="1481328" cy="45720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Real-Time Embedded</a:t>
            </a:r>
            <a:endParaRPr lang="en-US" sz="850" dirty="0"/>
          </a:p>
          <a:p>
            <a:pPr algn="ctr" indent="0" marL="0">
              <a:buNone/>
            </a:pPr>
            <a:r>
              <a:rPr lang="en-US" sz="850" b="1" dirty="0">
                <a:solidFill>
                  <a:srgbClr val="0F172A"/>
                </a:solidFill>
                <a:latin typeface="Arial" pitchFamily="34" charset="0"/>
                <a:ea typeface="Arial" pitchFamily="34" charset="-122"/>
                <a:cs typeface="Arial" pitchFamily="34" charset="-120"/>
              </a:rPr>
              <a:t>Fault Detection</a:t>
            </a:r>
            <a:endParaRPr lang="en-US" sz="850" dirty="0"/>
          </a:p>
        </p:txBody>
      </p:sp>
      <p:sp>
        <p:nvSpPr>
          <p:cNvPr id="15" name="Text 13"/>
          <p:cNvSpPr/>
          <p:nvPr/>
        </p:nvSpPr>
        <p:spPr>
          <a:xfrm>
            <a:off x="2148840" y="2194560"/>
            <a:ext cx="1481328" cy="457200"/>
          </a:xfrm>
          <a:prstGeom prst="rect">
            <a:avLst/>
          </a:prstGeom>
          <a:noFill/>
          <a:ln/>
        </p:spPr>
        <p:txBody>
          <a:bodyPr wrap="square" rtlCol="0" anchor="ctr"/>
          <a:lstStyle/>
          <a:p>
            <a:pPr algn="ctr" indent="0" marL="0">
              <a:buNone/>
            </a:pPr>
            <a:r>
              <a:rPr lang="en-US" sz="700" i="1" dirty="0">
                <a:solidFill>
                  <a:srgbClr val="94A3B8"/>
                </a:solidFill>
                <a:latin typeface="Arial" pitchFamily="34" charset="0"/>
                <a:ea typeface="Arial" pitchFamily="34" charset="-122"/>
                <a:cs typeface="Arial" pitchFamily="34" charset="-120"/>
              </a:rPr>
              <a:t>Bruneo &amp; De Vita (2022) — Echo State Networks untuk fault detection</a:t>
            </a:r>
            <a:endParaRPr lang="en-US" sz="700" dirty="0"/>
          </a:p>
        </p:txBody>
      </p:sp>
      <p:sp>
        <p:nvSpPr>
          <p:cNvPr id="16" name="Shape 14"/>
          <p:cNvSpPr/>
          <p:nvPr/>
        </p:nvSpPr>
        <p:spPr>
          <a:xfrm>
            <a:off x="2331720" y="2697480"/>
            <a:ext cx="1115568" cy="13716"/>
          </a:xfrm>
          <a:prstGeom prst="rect">
            <a:avLst/>
          </a:prstGeom>
          <a:solidFill>
            <a:srgbClr val="E2E8F0"/>
          </a:solidFill>
          <a:ln/>
        </p:spPr>
      </p:sp>
      <p:sp>
        <p:nvSpPr>
          <p:cNvPr id="17" name="Text 15"/>
          <p:cNvSpPr/>
          <p:nvPr/>
        </p:nvSpPr>
        <p:spPr>
          <a:xfrm>
            <a:off x="2148840" y="2788920"/>
            <a:ext cx="1481328" cy="2651760"/>
          </a:xfrm>
          <a:prstGeom prst="rect">
            <a:avLst/>
          </a:prstGeom>
          <a:noFill/>
          <a:ln/>
        </p:spPr>
        <p:txBody>
          <a:bodyPr wrap="square" rtlCol="0" anchor="t"/>
          <a:lstStyle/>
          <a:p>
            <a:pPr indent="0" marL="0">
              <a:lnSpc>
                <a:spcPts val="1300"/>
              </a:lnSpc>
              <a:buNone/>
            </a:pPr>
            <a:r>
              <a:rPr lang="en-US" sz="750" dirty="0">
                <a:solidFill>
                  <a:srgbClr val="334155"/>
                </a:solidFill>
                <a:latin typeface="Arial" pitchFamily="34" charset="0"/>
                <a:ea typeface="Arial" pitchFamily="34" charset="-122"/>
                <a:cs typeface="Arial" pitchFamily="34" charset="-120"/>
              </a:rPr>
              <a:t>• Menggunakan Echo State Network (ESN) untuk deteksi fault di edge</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Future work: real-time embedded deployment pada mikrokontroler</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Kelemahan: ESN terlalu berat untuk bare-metal MCU, butuh resource komputasi besar</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Belum ada implementasi voting-based sensor fusion</a:t>
            </a:r>
            <a:endParaRPr lang="en-US" sz="750" dirty="0"/>
          </a:p>
        </p:txBody>
      </p:sp>
      <p:sp>
        <p:nvSpPr>
          <p:cNvPr id="18" name="Shape 16"/>
          <p:cNvSpPr/>
          <p:nvPr/>
        </p:nvSpPr>
        <p:spPr>
          <a:xfrm>
            <a:off x="3840480" y="1143000"/>
            <a:ext cx="1664208" cy="4389120"/>
          </a:xfrm>
          <a:prstGeom prst="roundRect">
            <a:avLst>
              <a:gd name="adj" fmla="val 3297"/>
            </a:avLst>
          </a:prstGeom>
          <a:solidFill>
            <a:srgbClr val="F8FAFC"/>
          </a:solidFill>
          <a:ln w="6350">
            <a:solidFill>
              <a:srgbClr val="E2E8F0"/>
            </a:solidFill>
            <a:prstDash val="solid"/>
          </a:ln>
        </p:spPr>
      </p:sp>
      <p:sp>
        <p:nvSpPr>
          <p:cNvPr id="19" name="Shape 17"/>
          <p:cNvSpPr/>
          <p:nvPr/>
        </p:nvSpPr>
        <p:spPr>
          <a:xfrm>
            <a:off x="3931920" y="1234440"/>
            <a:ext cx="1481328" cy="365760"/>
          </a:xfrm>
          <a:prstGeom prst="roundRect">
            <a:avLst>
              <a:gd name="adj" fmla="val 10000"/>
            </a:avLst>
          </a:prstGeom>
          <a:solidFill>
            <a:srgbClr val="EF4444"/>
          </a:solidFill>
          <a:ln/>
        </p:spPr>
      </p:sp>
      <p:sp>
        <p:nvSpPr>
          <p:cNvPr id="20" name="Text 18"/>
          <p:cNvSpPr/>
          <p:nvPr/>
        </p:nvSpPr>
        <p:spPr>
          <a:xfrm>
            <a:off x="3931920" y="1234440"/>
            <a:ext cx="1481328"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FW18/23</a:t>
            </a:r>
            <a:endParaRPr lang="en-US" sz="1100" dirty="0"/>
          </a:p>
        </p:txBody>
      </p:sp>
      <p:sp>
        <p:nvSpPr>
          <p:cNvPr id="21" name="Text 19"/>
          <p:cNvSpPr/>
          <p:nvPr/>
        </p:nvSpPr>
        <p:spPr>
          <a:xfrm>
            <a:off x="3931920" y="1691640"/>
            <a:ext cx="1481328" cy="45720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Rust Memory Safety</a:t>
            </a:r>
            <a:endParaRPr lang="en-US" sz="850" dirty="0"/>
          </a:p>
          <a:p>
            <a:pPr algn="ctr" indent="0" marL="0">
              <a:buNone/>
            </a:pPr>
            <a:r>
              <a:rPr lang="en-US" sz="850" b="1" dirty="0">
                <a:solidFill>
                  <a:srgbClr val="0F172A"/>
                </a:solidFill>
                <a:latin typeface="Arial" pitchFamily="34" charset="0"/>
                <a:ea typeface="Arial" pitchFamily="34" charset="-122"/>
                <a:cs typeface="Arial" pitchFamily="34" charset="-120"/>
              </a:rPr>
              <a:t>&amp; Unsafe Reduction</a:t>
            </a:r>
            <a:endParaRPr lang="en-US" sz="850" dirty="0"/>
          </a:p>
        </p:txBody>
      </p:sp>
      <p:sp>
        <p:nvSpPr>
          <p:cNvPr id="22" name="Text 20"/>
          <p:cNvSpPr/>
          <p:nvPr/>
        </p:nvSpPr>
        <p:spPr>
          <a:xfrm>
            <a:off x="3931920" y="2194560"/>
            <a:ext cx="1481328" cy="457200"/>
          </a:xfrm>
          <a:prstGeom prst="rect">
            <a:avLst/>
          </a:prstGeom>
          <a:noFill/>
          <a:ln/>
        </p:spPr>
        <p:txBody>
          <a:bodyPr wrap="square" rtlCol="0" anchor="ctr"/>
          <a:lstStyle/>
          <a:p>
            <a:pPr algn="ctr" indent="0" marL="0">
              <a:buNone/>
            </a:pPr>
            <a:r>
              <a:rPr lang="en-US" sz="700" i="1" dirty="0">
                <a:solidFill>
                  <a:srgbClr val="94A3B8"/>
                </a:solidFill>
                <a:latin typeface="Arial" pitchFamily="34" charset="0"/>
                <a:ea typeface="Arial" pitchFamily="34" charset="-122"/>
                <a:cs typeface="Arial" pitchFamily="34" charset="-120"/>
              </a:rPr>
              <a:t>Xu et al. (2021) — 186 CVE memory-safety di Rust</a:t>
            </a:r>
            <a:endParaRPr lang="en-US" sz="700" dirty="0"/>
          </a:p>
          <a:p>
            <a:pPr algn="ctr" indent="0" marL="0">
              <a:buNone/>
            </a:pPr>
            <a:r>
              <a:rPr lang="en-US" sz="700" i="1" dirty="0">
                <a:solidFill>
                  <a:srgbClr val="94A3B8"/>
                </a:solidFill>
                <a:latin typeface="Arial" pitchFamily="34" charset="0"/>
                <a:ea typeface="Arial" pitchFamily="34" charset="-122"/>
                <a:cs typeface="Arial" pitchFamily="34" charset="-120"/>
              </a:rPr>
              <a:t>Jiang et al. (2023) — Thetis static analysis</a:t>
            </a:r>
            <a:endParaRPr lang="en-US" sz="700" dirty="0"/>
          </a:p>
        </p:txBody>
      </p:sp>
      <p:sp>
        <p:nvSpPr>
          <p:cNvPr id="23" name="Shape 21"/>
          <p:cNvSpPr/>
          <p:nvPr/>
        </p:nvSpPr>
        <p:spPr>
          <a:xfrm>
            <a:off x="4114800" y="2697480"/>
            <a:ext cx="1115568" cy="13716"/>
          </a:xfrm>
          <a:prstGeom prst="rect">
            <a:avLst/>
          </a:prstGeom>
          <a:solidFill>
            <a:srgbClr val="E2E8F0"/>
          </a:solidFill>
          <a:ln/>
        </p:spPr>
      </p:sp>
      <p:sp>
        <p:nvSpPr>
          <p:cNvPr id="24" name="Text 22"/>
          <p:cNvSpPr/>
          <p:nvPr/>
        </p:nvSpPr>
        <p:spPr>
          <a:xfrm>
            <a:off x="3931920" y="2788920"/>
            <a:ext cx="1481328" cy="2651760"/>
          </a:xfrm>
          <a:prstGeom prst="rect">
            <a:avLst/>
          </a:prstGeom>
          <a:noFill/>
          <a:ln/>
        </p:spPr>
        <p:txBody>
          <a:bodyPr wrap="square" rtlCol="0" anchor="t"/>
          <a:lstStyle/>
          <a:p>
            <a:pPr indent="0" marL="0">
              <a:lnSpc>
                <a:spcPts val="1300"/>
              </a:lnSpc>
              <a:buNone/>
            </a:pPr>
            <a:r>
              <a:rPr lang="en-US" sz="750" dirty="0">
                <a:solidFill>
                  <a:srgbClr val="334155"/>
                </a:solidFill>
                <a:latin typeface="Arial" pitchFamily="34" charset="0"/>
                <a:ea typeface="Arial" pitchFamily="34" charset="-122"/>
                <a:cs typeface="Arial" pitchFamily="34" charset="-120"/>
              </a:rPr>
              <a:t>• Mengidentifikasi 5 pola bug memory-safety di Rust unsafe code</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Thetis mengurangi unsafe code surface area</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Kelemahan: Belum diaplikasikan ke sistem embedded real-time</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Tidak ada implementasi sensor fusion dengan Rust safety guarantees</a:t>
            </a:r>
            <a:endParaRPr lang="en-US" sz="750" dirty="0"/>
          </a:p>
        </p:txBody>
      </p:sp>
      <p:sp>
        <p:nvSpPr>
          <p:cNvPr id="25" name="Shape 23"/>
          <p:cNvSpPr/>
          <p:nvPr/>
        </p:nvSpPr>
        <p:spPr>
          <a:xfrm>
            <a:off x="5623560" y="1143000"/>
            <a:ext cx="1664208" cy="4389120"/>
          </a:xfrm>
          <a:prstGeom prst="roundRect">
            <a:avLst>
              <a:gd name="adj" fmla="val 3297"/>
            </a:avLst>
          </a:prstGeom>
          <a:solidFill>
            <a:srgbClr val="F8FAFC"/>
          </a:solidFill>
          <a:ln w="6350">
            <a:solidFill>
              <a:srgbClr val="E2E8F0"/>
            </a:solidFill>
            <a:prstDash val="solid"/>
          </a:ln>
        </p:spPr>
      </p:sp>
      <p:sp>
        <p:nvSpPr>
          <p:cNvPr id="26" name="Shape 24"/>
          <p:cNvSpPr/>
          <p:nvPr/>
        </p:nvSpPr>
        <p:spPr>
          <a:xfrm>
            <a:off x="5715000" y="1234440"/>
            <a:ext cx="1481328" cy="365760"/>
          </a:xfrm>
          <a:prstGeom prst="roundRect">
            <a:avLst>
              <a:gd name="adj" fmla="val 10000"/>
            </a:avLst>
          </a:prstGeom>
          <a:solidFill>
            <a:srgbClr val="A855F7"/>
          </a:solidFill>
          <a:ln/>
        </p:spPr>
      </p:sp>
      <p:sp>
        <p:nvSpPr>
          <p:cNvPr id="27" name="Text 25"/>
          <p:cNvSpPr/>
          <p:nvPr/>
        </p:nvSpPr>
        <p:spPr>
          <a:xfrm>
            <a:off x="5715000" y="1234440"/>
            <a:ext cx="1481328"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FW21</a:t>
            </a:r>
            <a:endParaRPr lang="en-US" sz="1100" dirty="0"/>
          </a:p>
        </p:txBody>
      </p:sp>
      <p:sp>
        <p:nvSpPr>
          <p:cNvPr id="28" name="Text 26"/>
          <p:cNvSpPr/>
          <p:nvPr/>
        </p:nvSpPr>
        <p:spPr>
          <a:xfrm>
            <a:off x="5715000" y="1691640"/>
            <a:ext cx="1481328" cy="45720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Low-Latency Rust</a:t>
            </a:r>
            <a:endParaRPr lang="en-US" sz="850" dirty="0"/>
          </a:p>
          <a:p>
            <a:pPr algn="ctr" indent="0" marL="0">
              <a:buNone/>
            </a:pPr>
            <a:r>
              <a:rPr lang="en-US" sz="850" b="1" dirty="0">
                <a:solidFill>
                  <a:srgbClr val="0F172A"/>
                </a:solidFill>
                <a:latin typeface="Arial" pitchFamily="34" charset="0"/>
                <a:ea typeface="Arial" pitchFamily="34" charset="-122"/>
                <a:cs typeface="Arial" pitchFamily="34" charset="-120"/>
              </a:rPr>
              <a:t>Embedded OS</a:t>
            </a:r>
            <a:endParaRPr lang="en-US" sz="850" dirty="0"/>
          </a:p>
        </p:txBody>
      </p:sp>
      <p:sp>
        <p:nvSpPr>
          <p:cNvPr id="29" name="Text 27"/>
          <p:cNvSpPr/>
          <p:nvPr/>
        </p:nvSpPr>
        <p:spPr>
          <a:xfrm>
            <a:off x="5715000" y="2194560"/>
            <a:ext cx="1481328" cy="457200"/>
          </a:xfrm>
          <a:prstGeom prst="rect">
            <a:avLst/>
          </a:prstGeom>
          <a:noFill/>
          <a:ln/>
        </p:spPr>
        <p:txBody>
          <a:bodyPr wrap="square" rtlCol="0" anchor="ctr"/>
          <a:lstStyle/>
          <a:p>
            <a:pPr algn="ctr" indent="0" marL="0">
              <a:buNone/>
            </a:pPr>
            <a:r>
              <a:rPr lang="en-US" sz="700" i="1" dirty="0">
                <a:solidFill>
                  <a:srgbClr val="94A3B8"/>
                </a:solidFill>
                <a:latin typeface="Arial" pitchFamily="34" charset="0"/>
                <a:ea typeface="Arial" pitchFamily="34" charset="-122"/>
                <a:cs typeface="Arial" pitchFamily="34" charset="-120"/>
              </a:rPr>
              <a:t>Radovici et al. (2022) — eBPF di Tock kernel, 3× faster interrupt</a:t>
            </a:r>
            <a:endParaRPr lang="en-US" sz="700" dirty="0"/>
          </a:p>
        </p:txBody>
      </p:sp>
      <p:sp>
        <p:nvSpPr>
          <p:cNvPr id="30" name="Shape 28"/>
          <p:cNvSpPr/>
          <p:nvPr/>
        </p:nvSpPr>
        <p:spPr>
          <a:xfrm>
            <a:off x="5897880" y="2697480"/>
            <a:ext cx="1115568" cy="13716"/>
          </a:xfrm>
          <a:prstGeom prst="rect">
            <a:avLst/>
          </a:prstGeom>
          <a:solidFill>
            <a:srgbClr val="E2E8F0"/>
          </a:solidFill>
          <a:ln/>
        </p:spPr>
      </p:sp>
      <p:sp>
        <p:nvSpPr>
          <p:cNvPr id="31" name="Text 29"/>
          <p:cNvSpPr/>
          <p:nvPr/>
        </p:nvSpPr>
        <p:spPr>
          <a:xfrm>
            <a:off x="5715000" y="2788920"/>
            <a:ext cx="1481328" cy="2651760"/>
          </a:xfrm>
          <a:prstGeom prst="rect">
            <a:avLst/>
          </a:prstGeom>
          <a:noFill/>
          <a:ln/>
        </p:spPr>
        <p:txBody>
          <a:bodyPr wrap="square" rtlCol="0" anchor="t"/>
          <a:lstStyle/>
          <a:p>
            <a:pPr indent="0" marL="0">
              <a:lnSpc>
                <a:spcPts val="1300"/>
              </a:lnSpc>
              <a:buNone/>
            </a:pPr>
            <a:r>
              <a:rPr lang="en-US" sz="750" dirty="0">
                <a:solidFill>
                  <a:srgbClr val="334155"/>
                </a:solidFill>
                <a:latin typeface="Arial" pitchFamily="34" charset="0"/>
                <a:ea typeface="Arial" pitchFamily="34" charset="-122"/>
                <a:cs typeface="Arial" pitchFamily="34" charset="-120"/>
              </a:rPr>
              <a:t>• Mencapai latensi interrupt 3× lebih cepat dengan Rust+eBPF</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Future work: mengurangi overhead array iteration</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Kelemahan: Fokus pada performa OS, bukan pada fault detection</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Tidak mengimplementasikan mekanisme sensor fusion atau fail-safe actuator</a:t>
            </a:r>
            <a:endParaRPr lang="en-US" sz="750" dirty="0"/>
          </a:p>
        </p:txBody>
      </p:sp>
      <p:sp>
        <p:nvSpPr>
          <p:cNvPr id="32" name="Shape 30"/>
          <p:cNvSpPr/>
          <p:nvPr/>
        </p:nvSpPr>
        <p:spPr>
          <a:xfrm>
            <a:off x="7406640" y="1143000"/>
            <a:ext cx="1664208" cy="4389120"/>
          </a:xfrm>
          <a:prstGeom prst="roundRect">
            <a:avLst>
              <a:gd name="adj" fmla="val 3297"/>
            </a:avLst>
          </a:prstGeom>
          <a:solidFill>
            <a:srgbClr val="F8FAFC"/>
          </a:solidFill>
          <a:ln w="6350">
            <a:solidFill>
              <a:srgbClr val="E2E8F0"/>
            </a:solidFill>
            <a:prstDash val="solid"/>
          </a:ln>
        </p:spPr>
      </p:sp>
      <p:sp>
        <p:nvSpPr>
          <p:cNvPr id="33" name="Shape 31"/>
          <p:cNvSpPr/>
          <p:nvPr/>
        </p:nvSpPr>
        <p:spPr>
          <a:xfrm>
            <a:off x="7498080" y="1234440"/>
            <a:ext cx="1481328" cy="365760"/>
          </a:xfrm>
          <a:prstGeom prst="roundRect">
            <a:avLst>
              <a:gd name="adj" fmla="val 10000"/>
            </a:avLst>
          </a:prstGeom>
          <a:solidFill>
            <a:srgbClr val="22C55E"/>
          </a:solidFill>
          <a:ln/>
        </p:spPr>
      </p:sp>
      <p:sp>
        <p:nvSpPr>
          <p:cNvPr id="34" name="Text 32"/>
          <p:cNvSpPr/>
          <p:nvPr/>
        </p:nvSpPr>
        <p:spPr>
          <a:xfrm>
            <a:off x="7498080" y="1234440"/>
            <a:ext cx="1481328"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FW24</a:t>
            </a:r>
            <a:endParaRPr lang="en-US" sz="1100" dirty="0"/>
          </a:p>
        </p:txBody>
      </p:sp>
      <p:sp>
        <p:nvSpPr>
          <p:cNvPr id="35" name="Text 33"/>
          <p:cNvSpPr/>
          <p:nvPr/>
        </p:nvSpPr>
        <p:spPr>
          <a:xfrm>
            <a:off x="7498080" y="1691640"/>
            <a:ext cx="1481328" cy="45720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Rust Performance</a:t>
            </a:r>
            <a:endParaRPr lang="en-US" sz="850" dirty="0"/>
          </a:p>
          <a:p>
            <a:pPr algn="ctr" indent="0" marL="0">
              <a:buNone/>
            </a:pPr>
            <a:r>
              <a:rPr lang="en-US" sz="850" b="1" dirty="0">
                <a:solidFill>
                  <a:srgbClr val="0F172A"/>
                </a:solidFill>
                <a:latin typeface="Arial" pitchFamily="34" charset="0"/>
                <a:ea typeface="Arial" pitchFamily="34" charset="-122"/>
                <a:cs typeface="Arial" pitchFamily="34" charset="-120"/>
              </a:rPr>
              <a:t>vs C/C++ pada ESP32</a:t>
            </a:r>
            <a:endParaRPr lang="en-US" sz="850" dirty="0"/>
          </a:p>
        </p:txBody>
      </p:sp>
      <p:sp>
        <p:nvSpPr>
          <p:cNvPr id="36" name="Text 34"/>
          <p:cNvSpPr/>
          <p:nvPr/>
        </p:nvSpPr>
        <p:spPr>
          <a:xfrm>
            <a:off x="7498080" y="2194560"/>
            <a:ext cx="1481328" cy="457200"/>
          </a:xfrm>
          <a:prstGeom prst="rect">
            <a:avLst/>
          </a:prstGeom>
          <a:noFill/>
          <a:ln/>
        </p:spPr>
        <p:txBody>
          <a:bodyPr wrap="square" rtlCol="0" anchor="ctr"/>
          <a:lstStyle/>
          <a:p>
            <a:pPr algn="ctr" indent="0" marL="0">
              <a:buNone/>
            </a:pPr>
            <a:r>
              <a:rPr lang="en-US" sz="700" i="1" dirty="0">
                <a:solidFill>
                  <a:srgbClr val="94A3B8"/>
                </a:solidFill>
                <a:latin typeface="Arial" pitchFamily="34" charset="0"/>
                <a:ea typeface="Arial" pitchFamily="34" charset="-122"/>
                <a:cs typeface="Arial" pitchFamily="34" charset="-120"/>
              </a:rPr>
              <a:t>Plauska &amp; Liutkevičius (2023) — Benchmark Rust/C/MicroPython/TinyGo</a:t>
            </a:r>
            <a:endParaRPr lang="en-US" sz="700" dirty="0"/>
          </a:p>
        </p:txBody>
      </p:sp>
      <p:sp>
        <p:nvSpPr>
          <p:cNvPr id="37" name="Shape 35"/>
          <p:cNvSpPr/>
          <p:nvPr/>
        </p:nvSpPr>
        <p:spPr>
          <a:xfrm>
            <a:off x="7680960" y="2697480"/>
            <a:ext cx="1115568" cy="13716"/>
          </a:xfrm>
          <a:prstGeom prst="rect">
            <a:avLst/>
          </a:prstGeom>
          <a:solidFill>
            <a:srgbClr val="E2E8F0"/>
          </a:solidFill>
          <a:ln/>
        </p:spPr>
      </p:sp>
      <p:sp>
        <p:nvSpPr>
          <p:cNvPr id="38" name="Text 36"/>
          <p:cNvSpPr/>
          <p:nvPr/>
        </p:nvSpPr>
        <p:spPr>
          <a:xfrm>
            <a:off x="7498080" y="2788920"/>
            <a:ext cx="1481328" cy="2651760"/>
          </a:xfrm>
          <a:prstGeom prst="rect">
            <a:avLst/>
          </a:prstGeom>
          <a:noFill/>
          <a:ln/>
        </p:spPr>
        <p:txBody>
          <a:bodyPr wrap="square" rtlCol="0" anchor="t"/>
          <a:lstStyle/>
          <a:p>
            <a:pPr indent="0" marL="0">
              <a:lnSpc>
                <a:spcPts val="1300"/>
              </a:lnSpc>
              <a:buNone/>
            </a:pPr>
            <a:r>
              <a:rPr lang="en-US" sz="750" dirty="0">
                <a:solidFill>
                  <a:srgbClr val="334155"/>
                </a:solidFill>
                <a:latin typeface="Arial" pitchFamily="34" charset="0"/>
                <a:ea typeface="Arial" pitchFamily="34" charset="-122"/>
                <a:cs typeface="Arial" pitchFamily="34" charset="-120"/>
              </a:rPr>
              <a:t>• Membuktikan Rust memiliki performa kompetitif vs C di ESP32</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Future work: benchmark multi-threaded dan async workloads</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Kelemahan: Hanya benchmark sintetis, bukan aplikasi safety-critical nyata</a:t>
            </a:r>
            <a:endParaRPr lang="en-US" sz="750" dirty="0"/>
          </a:p>
          <a:p>
            <a:pPr indent="0" marL="0">
              <a:lnSpc>
                <a:spcPts val="1300"/>
              </a:lnSpc>
              <a:buNone/>
            </a:pPr>
            <a:r>
              <a:rPr lang="en-US" sz="750" dirty="0">
                <a:solidFill>
                  <a:srgbClr val="334155"/>
                </a:solidFill>
                <a:latin typeface="Arial" pitchFamily="34" charset="0"/>
                <a:ea typeface="Arial" pitchFamily="34" charset="-122"/>
                <a:cs typeface="Arial" pitchFamily="34" charset="-120"/>
              </a:rPr>
              <a:t>• Tidak menguji Rust dalam konteks sensor fusion atau fault tolerance</a:t>
            </a:r>
            <a:endParaRPr lang="en-US" sz="750" dirty="0"/>
          </a:p>
        </p:txBody>
      </p:sp>
      <p:sp>
        <p:nvSpPr>
          <p:cNvPr id="39" name="Shape 37"/>
          <p:cNvSpPr/>
          <p:nvPr/>
        </p:nvSpPr>
        <p:spPr>
          <a:xfrm>
            <a:off x="274320" y="5669280"/>
            <a:ext cx="9052560" cy="594360"/>
          </a:xfrm>
          <a:prstGeom prst="roundRect">
            <a:avLst>
              <a:gd name="adj" fmla="val 7692"/>
            </a:avLst>
          </a:prstGeom>
          <a:solidFill>
            <a:srgbClr val="FEF2F2"/>
          </a:solidFill>
          <a:ln w="10160">
            <a:solidFill>
              <a:srgbClr val="FECACA"/>
            </a:solidFill>
            <a:prstDash val="solid"/>
          </a:ln>
        </p:spPr>
      </p:sp>
      <p:sp>
        <p:nvSpPr>
          <p:cNvPr id="40" name="Text 38"/>
          <p:cNvSpPr/>
          <p:nvPr/>
        </p:nvSpPr>
        <p:spPr>
          <a:xfrm>
            <a:off x="457200" y="5715000"/>
            <a:ext cx="8686800" cy="502920"/>
          </a:xfrm>
          <a:prstGeom prst="rect">
            <a:avLst/>
          </a:prstGeom>
          <a:noFill/>
          <a:ln/>
        </p:spPr>
        <p:txBody>
          <a:bodyPr wrap="square" rtlCol="0" anchor="ctr"/>
          <a:lstStyle/>
          <a:p>
            <a:pPr indent="0" marL="0">
              <a:lnSpc>
                <a:spcPts val="1400"/>
              </a:lnSpc>
              <a:buNone/>
            </a:pPr>
            <a:r>
              <a:rPr lang="en-US" sz="1000" b="1" dirty="0">
                <a:solidFill>
                  <a:srgbClr val="DC2626"/>
                </a:solidFill>
                <a:latin typeface="Arial" pitchFamily="34" charset="0"/>
                <a:ea typeface="Arial" pitchFamily="34" charset="-122"/>
                <a:cs typeface="Arial" pitchFamily="34" charset="-120"/>
              </a:rPr>
              <a:t>KESIMPULAN: </a:t>
            </a:r>
            <a:pPr indent="0" marL="0">
              <a:lnSpc>
                <a:spcPts val="1400"/>
              </a:lnSpc>
              <a:buNone/>
            </a:pPr>
            <a:r>
              <a:rPr lang="en-US" sz="1000" dirty="0">
                <a:solidFill>
                  <a:srgbClr val="0F172A"/>
                </a:solidFill>
                <a:latin typeface="Arial" pitchFamily="34" charset="0"/>
                <a:ea typeface="Arial" pitchFamily="34" charset="-122"/>
                <a:cs typeface="Arial" pitchFamily="34" charset="-120"/>
              </a:rPr>
              <a:t>Tidak ada penelitian yang menggabungkan Rust safe-concurrency + voting fusion + adaptive lockout + event-triggered pada bare-metal ESP32-S3. </a:t>
            </a:r>
            <a:pPr indent="0" marL="0">
              <a:lnSpc>
                <a:spcPts val="1400"/>
              </a:lnSpc>
              <a:buNone/>
            </a:pPr>
            <a:r>
              <a:rPr lang="en-US" sz="1000" dirty="0">
                <a:solidFill>
                  <a:srgbClr val="0F172A"/>
                </a:solidFill>
                <a:latin typeface="Arial" pitchFamily="34" charset="0"/>
                <a:ea typeface="Arial" pitchFamily="34" charset="-122"/>
                <a:cs typeface="Arial" pitchFamily="34" charset="-120"/>
              </a:rPr>
              <a:t>Metode kami mengisi celah ini secara terintegrasi — bukan sekadar gabungan, tetapi solusi holistik yang menjawab kelima future work sekaligus.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686800" cy="50292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Metode yang Diusulkan — Safe-Concurrency Multi-Sensor Fusion</a:t>
            </a:r>
            <a:endParaRPr lang="en-US" sz="2200" dirty="0"/>
          </a:p>
        </p:txBody>
      </p:sp>
      <p:sp>
        <p:nvSpPr>
          <p:cNvPr id="3" name="Text 1"/>
          <p:cNvSpPr/>
          <p:nvPr/>
        </p:nvSpPr>
        <p:spPr>
          <a:xfrm>
            <a:off x="457200" y="685800"/>
            <a:ext cx="8686800" cy="32004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Sistem membaca 3 sensor (suhu, tekanan, vibrasi) → voting ≥2/3 → adaptive lockout → aktuator fail-safe. Berjalan di ESP32-S3 bare-metal Rust tanpa unsafe code.</a:t>
            </a:r>
            <a:endParaRPr lang="en-US" sz="1100" dirty="0"/>
          </a:p>
        </p:txBody>
      </p:sp>
      <p:sp>
        <p:nvSpPr>
          <p:cNvPr id="4" name="Shape 2"/>
          <p:cNvSpPr/>
          <p:nvPr/>
        </p:nvSpPr>
        <p:spPr>
          <a:xfrm>
            <a:off x="274320" y="1188720"/>
            <a:ext cx="4389120" cy="2103120"/>
          </a:xfrm>
          <a:prstGeom prst="roundRect">
            <a:avLst>
              <a:gd name="adj" fmla="val 3478"/>
            </a:avLst>
          </a:prstGeom>
          <a:solidFill>
            <a:srgbClr val="F8FAFC"/>
          </a:solidFill>
          <a:ln w="6350">
            <a:solidFill>
              <a:srgbClr val="E2E8F0"/>
            </a:solidFill>
            <a:prstDash val="solid"/>
          </a:ln>
        </p:spPr>
      </p:sp>
      <p:sp>
        <p:nvSpPr>
          <p:cNvPr id="5" name="Shape 3"/>
          <p:cNvSpPr/>
          <p:nvPr/>
        </p:nvSpPr>
        <p:spPr>
          <a:xfrm>
            <a:off x="365760" y="1280160"/>
            <a:ext cx="45720" cy="1920240"/>
          </a:xfrm>
          <a:prstGeom prst="rect">
            <a:avLst/>
          </a:prstGeom>
          <a:solidFill>
            <a:srgbClr val="3B82F6"/>
          </a:solidFill>
          <a:ln/>
        </p:spPr>
      </p:sp>
      <p:sp>
        <p:nvSpPr>
          <p:cNvPr id="6" name="Text 4"/>
          <p:cNvSpPr/>
          <p:nvPr/>
        </p:nvSpPr>
        <p:spPr>
          <a:xfrm>
            <a:off x="548640" y="1280160"/>
            <a:ext cx="1828800" cy="640080"/>
          </a:xfrm>
          <a:prstGeom prst="rect">
            <a:avLst/>
          </a:prstGeom>
          <a:noFill/>
          <a:ln/>
        </p:spPr>
        <p:txBody>
          <a:bodyPr wrap="square" rtlCol="0" anchor="t"/>
          <a:lstStyle/>
          <a:p>
            <a:pPr indent="0" marL="0">
              <a:buNone/>
            </a:pPr>
            <a:r>
              <a:rPr lang="en-US" sz="1100" b="1" dirty="0">
                <a:solidFill>
                  <a:srgbClr val="0F172A"/>
                </a:solidFill>
                <a:latin typeface="Arial" pitchFamily="34" charset="0"/>
                <a:ea typeface="Arial" pitchFamily="34" charset="-122"/>
                <a:cs typeface="Arial" pitchFamily="34" charset="-120"/>
              </a:rPr>
              <a:t>Concurrency Model:</a:t>
            </a:r>
            <a:endParaRPr lang="en-US" sz="1100" dirty="0"/>
          </a:p>
          <a:p>
            <a:pPr indent="0" marL="0">
              <a:buNone/>
            </a:pPr>
            <a:r>
              <a:rPr lang="en-US" sz="1100" b="1" dirty="0">
                <a:solidFill>
                  <a:srgbClr val="0F172A"/>
                </a:solidFill>
                <a:latin typeface="Arial" pitchFamily="34" charset="0"/>
                <a:ea typeface="Arial" pitchFamily="34" charset="-122"/>
                <a:cs typeface="Arial" pitchFamily="34" charset="-120"/>
              </a:rPr>
              <a:t>Mutex&lt;RefCell&lt;T&gt;&gt;</a:t>
            </a:r>
            <a:endParaRPr lang="en-US" sz="1100" dirty="0"/>
          </a:p>
        </p:txBody>
      </p:sp>
      <p:sp>
        <p:nvSpPr>
          <p:cNvPr id="7" name="Text 5"/>
          <p:cNvSpPr/>
          <p:nvPr/>
        </p:nvSpPr>
        <p:spPr>
          <a:xfrm>
            <a:off x="548640" y="2011680"/>
            <a:ext cx="3931920" cy="1188720"/>
          </a:xfrm>
          <a:prstGeom prst="rect">
            <a:avLst/>
          </a:prstGeom>
          <a:noFill/>
          <a:ln/>
        </p:spPr>
        <p:txBody>
          <a:bodyPr wrap="square" rtlCol="0" anchor="t"/>
          <a:lstStyle/>
          <a:p>
            <a:pPr indent="0" marL="0">
              <a:lnSpc>
                <a:spcPts val="1500"/>
              </a:lnSpc>
              <a:buNone/>
            </a:pPr>
            <a:r>
              <a:rPr lang="en-US" sz="950" dirty="0">
                <a:solidFill>
                  <a:srgbClr val="334155"/>
                </a:solidFill>
                <a:latin typeface="Arial" pitchFamily="34" charset="0"/>
                <a:ea typeface="Arial" pitchFamily="34" charset="-122"/>
                <a:cs typeface="Arial" pitchFamily="34" charset="-120"/>
              </a:rPr>
              <a:t>Shared state ketiga sensor dilindungi Mutex&lt;RefCell&lt;T&gt;&gt; dengan critical_section. Setiap akses state bersifat atomik — interrupt dinonaktifkan sementara selama critical section. Model ini menjamin data-race-free TANPA unsafe code. Berbeda dengan C/C++ yang mengandalkan mutex manual (rentan deadlock, priority inversion), Rust menjamin keamanan di waktu kompilasi.</a:t>
            </a:r>
            <a:endParaRPr lang="en-US" sz="950" dirty="0"/>
          </a:p>
        </p:txBody>
      </p:sp>
      <p:sp>
        <p:nvSpPr>
          <p:cNvPr id="8" name="Shape 6"/>
          <p:cNvSpPr/>
          <p:nvPr/>
        </p:nvSpPr>
        <p:spPr>
          <a:xfrm>
            <a:off x="4846320" y="1188720"/>
            <a:ext cx="4389120" cy="2103120"/>
          </a:xfrm>
          <a:prstGeom prst="roundRect">
            <a:avLst>
              <a:gd name="adj" fmla="val 3478"/>
            </a:avLst>
          </a:prstGeom>
          <a:solidFill>
            <a:srgbClr val="F8FAFC"/>
          </a:solidFill>
          <a:ln w="6350">
            <a:solidFill>
              <a:srgbClr val="E2E8F0"/>
            </a:solidFill>
            <a:prstDash val="solid"/>
          </a:ln>
        </p:spPr>
      </p:sp>
      <p:sp>
        <p:nvSpPr>
          <p:cNvPr id="9" name="Shape 7"/>
          <p:cNvSpPr/>
          <p:nvPr/>
        </p:nvSpPr>
        <p:spPr>
          <a:xfrm>
            <a:off x="4937760" y="1280160"/>
            <a:ext cx="45720" cy="1920240"/>
          </a:xfrm>
          <a:prstGeom prst="rect">
            <a:avLst/>
          </a:prstGeom>
          <a:solidFill>
            <a:srgbClr val="F59E0B"/>
          </a:solidFill>
          <a:ln/>
        </p:spPr>
      </p:sp>
      <p:sp>
        <p:nvSpPr>
          <p:cNvPr id="10" name="Text 8"/>
          <p:cNvSpPr/>
          <p:nvPr/>
        </p:nvSpPr>
        <p:spPr>
          <a:xfrm>
            <a:off x="5120640" y="1280160"/>
            <a:ext cx="1828800" cy="640080"/>
          </a:xfrm>
          <a:prstGeom prst="rect">
            <a:avLst/>
          </a:prstGeom>
          <a:noFill/>
          <a:ln/>
        </p:spPr>
        <p:txBody>
          <a:bodyPr wrap="square" rtlCol="0" anchor="t"/>
          <a:lstStyle/>
          <a:p>
            <a:pPr indent="0" marL="0">
              <a:buNone/>
            </a:pPr>
            <a:r>
              <a:rPr lang="en-US" sz="1100" b="1" dirty="0">
                <a:solidFill>
                  <a:srgbClr val="0F172A"/>
                </a:solidFill>
                <a:latin typeface="Arial" pitchFamily="34" charset="0"/>
                <a:ea typeface="Arial" pitchFamily="34" charset="-122"/>
                <a:cs typeface="Arial" pitchFamily="34" charset="-120"/>
              </a:rPr>
              <a:t>Voting Redundansi:</a:t>
            </a:r>
            <a:endParaRPr lang="en-US" sz="1100" dirty="0"/>
          </a:p>
          <a:p>
            <a:pPr indent="0" marL="0">
              <a:buNone/>
            </a:pPr>
            <a:r>
              <a:rPr lang="en-US" sz="1100" b="1" dirty="0">
                <a:solidFill>
                  <a:srgbClr val="0F172A"/>
                </a:solidFill>
                <a:latin typeface="Arial" pitchFamily="34" charset="0"/>
                <a:ea typeface="Arial" pitchFamily="34" charset="-122"/>
                <a:cs typeface="Arial" pitchFamily="34" charset="-120"/>
              </a:rPr>
              <a:t>≥2 dari 3 Sensor</a:t>
            </a:r>
            <a:endParaRPr lang="en-US" sz="1100" dirty="0"/>
          </a:p>
        </p:txBody>
      </p:sp>
      <p:sp>
        <p:nvSpPr>
          <p:cNvPr id="11" name="Text 9"/>
          <p:cNvSpPr/>
          <p:nvPr/>
        </p:nvSpPr>
        <p:spPr>
          <a:xfrm>
            <a:off x="5120640" y="2011680"/>
            <a:ext cx="3931920" cy="1188720"/>
          </a:xfrm>
          <a:prstGeom prst="rect">
            <a:avLst/>
          </a:prstGeom>
          <a:noFill/>
          <a:ln/>
        </p:spPr>
        <p:txBody>
          <a:bodyPr wrap="square" rtlCol="0" anchor="t"/>
          <a:lstStyle/>
          <a:p>
            <a:pPr indent="0" marL="0">
              <a:lnSpc>
                <a:spcPts val="1500"/>
              </a:lnSpc>
              <a:buNone/>
            </a:pPr>
            <a:r>
              <a:rPr lang="en-US" sz="950" dirty="0">
                <a:solidFill>
                  <a:srgbClr val="334155"/>
                </a:solidFill>
                <a:latin typeface="Arial" pitchFamily="34" charset="0"/>
                <a:ea typeface="Arial" pitchFamily="34" charset="-122"/>
                <a:cs typeface="Arial" pitchFamily="34" charset="-120"/>
              </a:rPr>
              <a:t>Fungsi evaluate_sensor_redundancy() menghitung jumlah sensor anomali. Threshold: suhu &gt;80°C, tekanan &lt;900 atau &gt;1200 hPa, vibrasi &gt;500. Jika ≥2 sensor anomali → FAULT. Toleransi 1 sensor gagal — menghindari false positive yang bisa memicu shutdown tidak perlu. Berbeda dengan sistem single-sensor yang langsung fault tanpa verifikasi silang.</a:t>
            </a:r>
            <a:endParaRPr lang="en-US" sz="950" dirty="0"/>
          </a:p>
        </p:txBody>
      </p:sp>
      <p:sp>
        <p:nvSpPr>
          <p:cNvPr id="12" name="Shape 10"/>
          <p:cNvSpPr/>
          <p:nvPr/>
        </p:nvSpPr>
        <p:spPr>
          <a:xfrm>
            <a:off x="274320" y="3474720"/>
            <a:ext cx="4389120" cy="2103120"/>
          </a:xfrm>
          <a:prstGeom prst="roundRect">
            <a:avLst>
              <a:gd name="adj" fmla="val 3478"/>
            </a:avLst>
          </a:prstGeom>
          <a:solidFill>
            <a:srgbClr val="F8FAFC"/>
          </a:solidFill>
          <a:ln w="6350">
            <a:solidFill>
              <a:srgbClr val="E2E8F0"/>
            </a:solidFill>
            <a:prstDash val="solid"/>
          </a:ln>
        </p:spPr>
      </p:sp>
      <p:sp>
        <p:nvSpPr>
          <p:cNvPr id="13" name="Shape 11"/>
          <p:cNvSpPr/>
          <p:nvPr/>
        </p:nvSpPr>
        <p:spPr>
          <a:xfrm>
            <a:off x="365760" y="3566160"/>
            <a:ext cx="45720" cy="1920240"/>
          </a:xfrm>
          <a:prstGeom prst="rect">
            <a:avLst/>
          </a:prstGeom>
          <a:solidFill>
            <a:srgbClr val="EF4444"/>
          </a:solidFill>
          <a:ln/>
        </p:spPr>
      </p:sp>
      <p:sp>
        <p:nvSpPr>
          <p:cNvPr id="14" name="Text 12"/>
          <p:cNvSpPr/>
          <p:nvPr/>
        </p:nvSpPr>
        <p:spPr>
          <a:xfrm>
            <a:off x="548640" y="3566160"/>
            <a:ext cx="1828800" cy="640080"/>
          </a:xfrm>
          <a:prstGeom prst="rect">
            <a:avLst/>
          </a:prstGeom>
          <a:noFill/>
          <a:ln/>
        </p:spPr>
        <p:txBody>
          <a:bodyPr wrap="square" rtlCol="0" anchor="t"/>
          <a:lstStyle/>
          <a:p>
            <a:pPr indent="0" marL="0">
              <a:buNone/>
            </a:pPr>
            <a:r>
              <a:rPr lang="en-US" sz="1100" b="1" dirty="0">
                <a:solidFill>
                  <a:srgbClr val="0F172A"/>
                </a:solidFill>
                <a:latin typeface="Arial" pitchFamily="34" charset="0"/>
                <a:ea typeface="Arial" pitchFamily="34" charset="-122"/>
                <a:cs typeface="Arial" pitchFamily="34" charset="-120"/>
              </a:rPr>
              <a:t>Adaptive Lockout:</a:t>
            </a:r>
            <a:endParaRPr lang="en-US" sz="1100" dirty="0"/>
          </a:p>
          <a:p>
            <a:pPr indent="0" marL="0">
              <a:buNone/>
            </a:pPr>
            <a:r>
              <a:rPr lang="en-US" sz="1100" b="1" dirty="0">
                <a:solidFill>
                  <a:srgbClr val="0F172A"/>
                </a:solidFill>
                <a:latin typeface="Arial" pitchFamily="34" charset="0"/>
                <a:ea typeface="Arial" pitchFamily="34" charset="-122"/>
                <a:cs typeface="Arial" pitchFamily="34" charset="-120"/>
              </a:rPr>
              <a:t>500ms / 2000ms</a:t>
            </a:r>
            <a:endParaRPr lang="en-US" sz="1100" dirty="0"/>
          </a:p>
        </p:txBody>
      </p:sp>
      <p:sp>
        <p:nvSpPr>
          <p:cNvPr id="15" name="Text 13"/>
          <p:cNvSpPr/>
          <p:nvPr/>
        </p:nvSpPr>
        <p:spPr>
          <a:xfrm>
            <a:off x="548640" y="4297680"/>
            <a:ext cx="3931920" cy="1188720"/>
          </a:xfrm>
          <a:prstGeom prst="rect">
            <a:avLst/>
          </a:prstGeom>
          <a:noFill/>
          <a:ln/>
        </p:spPr>
        <p:txBody>
          <a:bodyPr wrap="square" rtlCol="0" anchor="t"/>
          <a:lstStyle/>
          <a:p>
            <a:pPr indent="0" marL="0">
              <a:lnSpc>
                <a:spcPts val="1500"/>
              </a:lnSpc>
              <a:buNone/>
            </a:pPr>
            <a:r>
              <a:rPr lang="en-US" sz="950" dirty="0">
                <a:solidFill>
                  <a:srgbClr val="334155"/>
                </a:solidFill>
                <a:latin typeface="Arial" pitchFamily="34" charset="0"/>
                <a:ea typeface="Arial" pitchFamily="34" charset="-122"/>
                <a:cs typeface="Arial" pitchFamily="34" charset="-120"/>
              </a:rPr>
              <a:t>Dua tingkat severity berdasarkan jumlah sensor anomali. MINOR (2/3 sensor): lockout 500ms — redundansi masih ada, recovery cepat. CRITICAL (3/3 sensor): lockout 2000ms — semua sensor gagal, butuh waktu lebih lama memastikan keamanan. Selama lockout, aktuator TETAP dalam posisi aman meskipun sensor kembali normal → mencegah valve bounce yang berbahaya.</a:t>
            </a:r>
            <a:endParaRPr lang="en-US" sz="950" dirty="0"/>
          </a:p>
        </p:txBody>
      </p:sp>
      <p:sp>
        <p:nvSpPr>
          <p:cNvPr id="16" name="Shape 14"/>
          <p:cNvSpPr/>
          <p:nvPr/>
        </p:nvSpPr>
        <p:spPr>
          <a:xfrm>
            <a:off x="4846320" y="3474720"/>
            <a:ext cx="4389120" cy="2103120"/>
          </a:xfrm>
          <a:prstGeom prst="roundRect">
            <a:avLst>
              <a:gd name="adj" fmla="val 3478"/>
            </a:avLst>
          </a:prstGeom>
          <a:solidFill>
            <a:srgbClr val="F8FAFC"/>
          </a:solidFill>
          <a:ln w="6350">
            <a:solidFill>
              <a:srgbClr val="E2E8F0"/>
            </a:solidFill>
            <a:prstDash val="solid"/>
          </a:ln>
        </p:spPr>
      </p:sp>
      <p:sp>
        <p:nvSpPr>
          <p:cNvPr id="17" name="Shape 15"/>
          <p:cNvSpPr/>
          <p:nvPr/>
        </p:nvSpPr>
        <p:spPr>
          <a:xfrm>
            <a:off x="4937760" y="3566160"/>
            <a:ext cx="45720" cy="1920240"/>
          </a:xfrm>
          <a:prstGeom prst="rect">
            <a:avLst/>
          </a:prstGeom>
          <a:solidFill>
            <a:srgbClr val="A855F7"/>
          </a:solidFill>
          <a:ln/>
        </p:spPr>
      </p:sp>
      <p:sp>
        <p:nvSpPr>
          <p:cNvPr id="18" name="Text 16"/>
          <p:cNvSpPr/>
          <p:nvPr/>
        </p:nvSpPr>
        <p:spPr>
          <a:xfrm>
            <a:off x="5120640" y="3566160"/>
            <a:ext cx="1828800" cy="640080"/>
          </a:xfrm>
          <a:prstGeom prst="rect">
            <a:avLst/>
          </a:prstGeom>
          <a:noFill/>
          <a:ln/>
        </p:spPr>
        <p:txBody>
          <a:bodyPr wrap="square" rtlCol="0" anchor="t"/>
          <a:lstStyle/>
          <a:p>
            <a:pPr indent="0" marL="0">
              <a:buNone/>
            </a:pPr>
            <a:r>
              <a:rPr lang="en-US" sz="1100" b="1" dirty="0">
                <a:solidFill>
                  <a:srgbClr val="0F172A"/>
                </a:solidFill>
                <a:latin typeface="Arial" pitchFamily="34" charset="0"/>
                <a:ea typeface="Arial" pitchFamily="34" charset="-122"/>
                <a:cs typeface="Arial" pitchFamily="34" charset="-120"/>
              </a:rPr>
              <a:t>Hold-Duration</a:t>
            </a:r>
            <a:endParaRPr lang="en-US" sz="1100" dirty="0"/>
          </a:p>
          <a:p>
            <a:pPr indent="0" marL="0">
              <a:buNone/>
            </a:pPr>
            <a:r>
              <a:rPr lang="en-US" sz="1100" b="1" dirty="0">
                <a:solidFill>
                  <a:srgbClr val="0F172A"/>
                </a:solidFill>
                <a:latin typeface="Arial" pitchFamily="34" charset="0"/>
                <a:ea typeface="Arial" pitchFamily="34" charset="-122"/>
                <a:cs typeface="Arial" pitchFamily="34" charset="-120"/>
              </a:rPr>
              <a:t>Detection</a:t>
            </a:r>
            <a:endParaRPr lang="en-US" sz="1100" dirty="0"/>
          </a:p>
        </p:txBody>
      </p:sp>
      <p:sp>
        <p:nvSpPr>
          <p:cNvPr id="19" name="Text 17"/>
          <p:cNvSpPr/>
          <p:nvPr/>
        </p:nvSpPr>
        <p:spPr>
          <a:xfrm>
            <a:off x="5120640" y="4297680"/>
            <a:ext cx="3931920" cy="1188720"/>
          </a:xfrm>
          <a:prstGeom prst="rect">
            <a:avLst/>
          </a:prstGeom>
          <a:noFill/>
          <a:ln/>
        </p:spPr>
        <p:txBody>
          <a:bodyPr wrap="square" rtlCol="0" anchor="t"/>
          <a:lstStyle/>
          <a:p>
            <a:pPr indent="0" marL="0">
              <a:lnSpc>
                <a:spcPts val="1500"/>
              </a:lnSpc>
              <a:buNone/>
            </a:pPr>
            <a:r>
              <a:rPr lang="en-US" sz="950" dirty="0">
                <a:solidFill>
                  <a:srgbClr val="334155"/>
                </a:solidFill>
                <a:latin typeface="Arial" pitchFamily="34" charset="0"/>
                <a:ea typeface="Arial" pitchFamily="34" charset="-122"/>
                <a:cs typeface="Arial" pitchFamily="34" charset="-120"/>
              </a:rPr>
              <a:t>Tombol GPIO15 dengan pull-down 10kΩ. Sistem menggunakan sticky latch — begitu tombol terbaca HIGH, latch tetap TRUE sampai fault terproses. Counter hold_count melacak berapa lama tombol ditahan. &lt;5 detik = MINOR (2 sensor diinjeksi). ≥5 detik = CRITICAL (3 sensor diinjeksi, termasuk tekanan 0 hPa). Sticky latch mengatasi masalah timing Proteus di mana klik mouse hanya beberapa milidetik.</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Diagram Blok Sistem</a:t>
            </a:r>
            <a:endParaRPr lang="en-US" sz="2600" dirty="0"/>
          </a:p>
        </p:txBody>
      </p:sp>
      <p:sp>
        <p:nvSpPr>
          <p:cNvPr id="3" name="Text 1"/>
          <p:cNvSpPr/>
          <p:nvPr/>
        </p:nvSpPr>
        <p:spPr>
          <a:xfrm>
            <a:off x="457200" y="548640"/>
            <a:ext cx="8229600" cy="27432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Aliran data dari sensor → latch → voting → lockout → aktuator → logging</a:t>
            </a:r>
            <a:endParaRPr lang="en-US" sz="1100" dirty="0"/>
          </a:p>
        </p:txBody>
      </p:sp>
      <p:pic>
        <p:nvPicPr>
          <p:cNvPr id="4" name="Image 0" descr="D:/Win/Doc/MAHASISWA/4/PemKom/ETS/Laporan/DB1.drawio.png">    </p:cNvPr>
          <p:cNvPicPr>
            <a:picLocks noChangeAspect="1"/>
          </p:cNvPicPr>
          <p:nvPr/>
        </p:nvPicPr>
        <p:blipFill>
          <a:blip r:embed="rId1"/>
          <a:stretch>
            <a:fillRect/>
          </a:stretch>
        </p:blipFill>
        <p:spPr>
          <a:xfrm>
            <a:off x="274320" y="914400"/>
            <a:ext cx="8961120" cy="3840480"/>
          </a:xfrm>
          <a:prstGeom prst="rect">
            <a:avLst/>
          </a:prstGeom>
        </p:spPr>
      </p:pic>
      <p:sp>
        <p:nvSpPr>
          <p:cNvPr id="5" name="Text 2"/>
          <p:cNvSpPr/>
          <p:nvPr/>
        </p:nvSpPr>
        <p:spPr>
          <a:xfrm>
            <a:off x="457200" y="4937760"/>
            <a:ext cx="8686800" cy="822960"/>
          </a:xfrm>
          <a:prstGeom prst="rect">
            <a:avLst/>
          </a:prstGeom>
          <a:noFill/>
          <a:ln/>
        </p:spPr>
        <p:txBody>
          <a:bodyPr wrap="square" rtlCol="0" anchor="ctr"/>
          <a:lstStyle/>
          <a:p>
            <a:pPr indent="0" marL="0">
              <a:lnSpc>
                <a:spcPts val="1600"/>
              </a:lnSpc>
              <a:buNone/>
            </a:pPr>
            <a:r>
              <a:rPr lang="en-US" sz="1000" b="1" dirty="0">
                <a:solidFill>
                  <a:srgbClr val="FFFFFF"/>
                </a:solidFill>
                <a:latin typeface="Arial" pitchFamily="34" charset="0"/>
                <a:ea typeface="Arial" pitchFamily="34" charset="-122"/>
                <a:cs typeface="Arial" pitchFamily="34" charset="-120"/>
              </a:rPr>
              <a:t>Cara membaca diagram: </a:t>
            </a:r>
            <a:pPr indent="0" marL="0">
              <a:lnSpc>
                <a:spcPts val="1600"/>
              </a:lnSpc>
              <a:buNone/>
            </a:pPr>
            <a:r>
              <a:rPr lang="en-US" sz="1000" dirty="0">
                <a:solidFill>
                  <a:srgbClr val="CBD5E1"/>
                </a:solidFill>
                <a:latin typeface="Arial" pitchFamily="34" charset="0"/>
                <a:ea typeface="Arial" pitchFamily="34" charset="-122"/>
                <a:cs typeface="Arial" pitchFamily="34" charset="-120"/>
              </a:rPr>
              <a:t>3 sensor (kiri) → Sticky Latch + Hold Counter → Sensor Injection → Voting Redundancy (≥2/3) → Adaptive Lockout → LED Output (kanan) → CSV Logging → Auto-Recovery
</a:t>
            </a:r>
            <a:pPr indent="0" marL="0">
              <a:lnSpc>
                <a:spcPts val="1600"/>
              </a:lnSpc>
              <a:buNone/>
            </a:pPr>
            <a:r>
              <a:rPr lang="en-US" sz="1000" dirty="0">
                <a:solidFill>
                  <a:srgbClr val="94A3B8"/>
                </a:solidFill>
                <a:latin typeface="Arial" pitchFamily="34" charset="0"/>
                <a:ea typeface="Arial" pitchFamily="34" charset="-122"/>
                <a:cs typeface="Arial" pitchFamily="34" charset="-120"/>
              </a:rPr>
              <a:t>State machine: NORMAL → FAULT_DETECTED → LOCKOUT (500/2000ms) → LOCKOUT_CLEARED → NORMAL (loop kembali)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Flowchart Algoritma — Alur Lengkap Sistem</a:t>
            </a:r>
            <a:endParaRPr lang="en-US" sz="2400" dirty="0"/>
          </a:p>
        </p:txBody>
      </p:sp>
      <p:pic>
        <p:nvPicPr>
          <p:cNvPr id="3" name="Image 0" descr="D:/Win/Doc/MAHASISWA/4/PemKom/ETS/docs/FLOW.png">    </p:cNvPr>
          <p:cNvPicPr>
            <a:picLocks noChangeAspect="1"/>
          </p:cNvPicPr>
          <p:nvPr/>
        </p:nvPicPr>
        <p:blipFill>
          <a:blip r:embed="rId1"/>
          <a:stretch>
            <a:fillRect/>
          </a:stretch>
        </p:blipFill>
        <p:spPr>
          <a:xfrm>
            <a:off x="182880" y="685800"/>
            <a:ext cx="5760720" cy="4754880"/>
          </a:xfrm>
          <a:prstGeom prst="rect">
            <a:avLst/>
          </a:prstGeom>
        </p:spPr>
      </p:pic>
      <p:sp>
        <p:nvSpPr>
          <p:cNvPr id="4" name="Shape 1"/>
          <p:cNvSpPr/>
          <p:nvPr/>
        </p:nvSpPr>
        <p:spPr>
          <a:xfrm>
            <a:off x="6217920" y="685800"/>
            <a:ext cx="3200400" cy="4754880"/>
          </a:xfrm>
          <a:prstGeom prst="roundRect">
            <a:avLst>
              <a:gd name="adj" fmla="val 2286"/>
            </a:avLst>
          </a:prstGeom>
          <a:solidFill>
            <a:srgbClr val="F8FAFC"/>
          </a:solidFill>
          <a:ln w="6350">
            <a:solidFill>
              <a:srgbClr val="E2E8F0"/>
            </a:solidFill>
            <a:prstDash val="solid"/>
          </a:ln>
        </p:spPr>
      </p:sp>
      <p:sp>
        <p:nvSpPr>
          <p:cNvPr id="5" name="Text 2"/>
          <p:cNvSpPr/>
          <p:nvPr/>
        </p:nvSpPr>
        <p:spPr>
          <a:xfrm>
            <a:off x="6355080" y="777240"/>
            <a:ext cx="2926080" cy="27432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Penjelasan Alur:</a:t>
            </a:r>
            <a:endParaRPr lang="en-US" sz="1200" dirty="0"/>
          </a:p>
        </p:txBody>
      </p:sp>
      <p:sp>
        <p:nvSpPr>
          <p:cNvPr id="6" name="Text 3"/>
          <p:cNvSpPr/>
          <p:nvPr/>
        </p:nvSpPr>
        <p:spPr>
          <a:xfrm>
            <a:off x="6355080" y="1097280"/>
            <a:ext cx="2926080" cy="4206240"/>
          </a:xfrm>
          <a:prstGeom prst="rect">
            <a:avLst/>
          </a:prstGeom>
          <a:noFill/>
          <a:ln/>
        </p:spPr>
        <p:txBody>
          <a:bodyPr wrap="square" rtlCol="0" anchor="t"/>
          <a:lstStyle/>
          <a:p>
            <a:pPr indent="0" marL="0">
              <a:lnSpc>
                <a:spcPts val="1400"/>
              </a:lnSpc>
              <a:buNone/>
            </a:pPr>
            <a:r>
              <a:rPr lang="en-US" sz="800" dirty="0">
                <a:solidFill>
                  <a:srgbClr val="0F172A"/>
                </a:solidFill>
                <a:latin typeface="Arial" pitchFamily="34" charset="0"/>
                <a:ea typeface="Arial" pitchFamily="34" charset="-122"/>
                <a:cs typeface="Arial" pitchFamily="34" charset="-120"/>
              </a:rPr>
              <a:t>1. START → Baca Tombol GPIO15
</a:t>
            </a:r>
            <a:pPr indent="0" marL="0">
              <a:lnSpc>
                <a:spcPts val="1400"/>
              </a:lnSpc>
              <a:buNone/>
            </a:pPr>
            <a:r>
              <a:rPr lang="en-US" sz="800" dirty="0">
                <a:solidFill>
                  <a:srgbClr val="64748B"/>
                </a:solidFill>
                <a:latin typeface="Arial" pitchFamily="34" charset="0"/>
                <a:ea typeface="Arial" pitchFamily="34" charset="-122"/>
                <a:cs typeface="Arial" pitchFamily="34" charset="-120"/>
              </a:rPr>
              <a:t>   Polling tiap 100ms
</a:t>
            </a:r>
            <a:pPr indent="0" marL="0">
              <a:lnSpc>
                <a:spcPts val="1400"/>
              </a:lnSpc>
              <a:buNone/>
            </a:pPr>
            <a:r>
              <a:rPr lang="en-US" sz="800" b="1" dirty="0">
                <a:solidFill>
                  <a:srgbClr val="0F172A"/>
                </a:solidFill>
                <a:latin typeface="Arial" pitchFamily="34" charset="0"/>
                <a:ea typeface="Arial" pitchFamily="34" charset="-122"/>
                <a:cs typeface="Arial" pitchFamily="34" charset="-120"/>
              </a:rPr>
              <a:t>2. Button HIGH?
</a:t>
            </a:r>
            <a:pPr indent="0" marL="0">
              <a:lnSpc>
                <a:spcPts val="1400"/>
              </a:lnSpc>
              <a:buNone/>
            </a:pPr>
            <a:r>
              <a:rPr lang="en-US" sz="800" dirty="0">
                <a:solidFill>
                  <a:srgbClr val="334155"/>
                </a:solidFill>
                <a:latin typeface="Arial" pitchFamily="34" charset="0"/>
                <a:ea typeface="Arial" pitchFamily="34" charset="-122"/>
                <a:cs typeface="Arial" pitchFamily="34" charset="-120"/>
              </a:rPr>
              <a:t>   YA → Sticky Latch = TRUE
   hold_count++
   Inject: temp=99, vib=9999
</a:t>
            </a:r>
            <a:pPr indent="0" marL="0">
              <a:lnSpc>
                <a:spcPts val="1400"/>
              </a:lnSpc>
              <a:buNone/>
            </a:pPr>
            <a:r>
              <a:rPr lang="en-US" sz="800" b="1" dirty="0">
                <a:solidFill>
                  <a:srgbClr val="0F172A"/>
                </a:solidFill>
                <a:latin typeface="Arial" pitchFamily="34" charset="0"/>
                <a:ea typeface="Arial" pitchFamily="34" charset="-122"/>
                <a:cs typeface="Arial" pitchFamily="34" charset="-120"/>
              </a:rPr>
              <a:t>3. hold_count ≥ 50?
</a:t>
            </a:r>
            <a:pPr indent="0" marL="0">
              <a:lnSpc>
                <a:spcPts val="1400"/>
              </a:lnSpc>
              <a:buNone/>
            </a:pPr>
            <a:r>
              <a:rPr lang="en-US" sz="800" dirty="0">
                <a:solidFill>
                  <a:srgbClr val="334155"/>
                </a:solidFill>
                <a:latin typeface="Arial" pitchFamily="34" charset="0"/>
                <a:ea typeface="Arial" pitchFamily="34" charset="-122"/>
                <a:cs typeface="Arial" pitchFamily="34" charset="-120"/>
              </a:rPr>
              <a:t>   YA (≥5s) → Inject press=0 (CRITICAL)
   TIDAK → press tetap 1013 (MINOR)
</a:t>
            </a:r>
            <a:pPr indent="0" marL="0">
              <a:lnSpc>
                <a:spcPts val="1400"/>
              </a:lnSpc>
              <a:buNone/>
            </a:pPr>
            <a:r>
              <a:rPr lang="en-US" sz="800" b="1" dirty="0">
                <a:solidFill>
                  <a:srgbClr val="0F172A"/>
                </a:solidFill>
                <a:latin typeface="Arial" pitchFamily="34" charset="0"/>
                <a:ea typeface="Arial" pitchFamily="34" charset="-122"/>
                <a:cs typeface="Arial" pitchFamily="34" charset="-120"/>
              </a:rPr>
              <a:t>4. Baca Sensor State
</a:t>
            </a:r>
            <a:pPr indent="0" marL="0">
              <a:lnSpc>
                <a:spcPts val="1400"/>
              </a:lnSpc>
              <a:buNone/>
            </a:pPr>
            <a:r>
              <a:rPr lang="en-US" sz="800" dirty="0">
                <a:solidFill>
                  <a:srgbClr val="334155"/>
                </a:solidFill>
                <a:latin typeface="Arial" pitchFamily="34" charset="0"/>
                <a:ea typeface="Arial" pitchFamily="34" charset="-122"/>
                <a:cs typeface="Arial" pitchFamily="34" charset="-120"/>
              </a:rPr>
              <a:t>   temp, press, vib → Voting
</a:t>
            </a:r>
            <a:pPr indent="0" marL="0">
              <a:lnSpc>
                <a:spcPts val="1400"/>
              </a:lnSpc>
              <a:buNone/>
            </a:pPr>
            <a:r>
              <a:rPr lang="en-US" sz="800" b="1" dirty="0">
                <a:solidFill>
                  <a:srgbClr val="DC2626"/>
                </a:solidFill>
                <a:latin typeface="Arial" pitchFamily="34" charset="0"/>
                <a:ea typeface="Arial" pitchFamily="34" charset="-122"/>
                <a:cs typeface="Arial" pitchFamily="34" charset="-120"/>
              </a:rPr>
              <a:t>5. Anomalies ≥ 2?
</a:t>
            </a:r>
            <a:pPr indent="0" marL="0">
              <a:lnSpc>
                <a:spcPts val="1400"/>
              </a:lnSpc>
              <a:buNone/>
            </a:pPr>
            <a:r>
              <a:rPr lang="en-US" sz="800" dirty="0">
                <a:solidFill>
                  <a:srgbClr val="334155"/>
                </a:solidFill>
                <a:latin typeface="Arial" pitchFamily="34" charset="0"/>
                <a:ea typeface="Arial" pitchFamily="34" charset="-122"/>
                <a:cs typeface="Arial" pitchFamily="34" charset="-120"/>
              </a:rPr>
              <a:t>   YA → FAULT → Set Lockout
   TIDAK → Cek Lockout &gt; 0?
     YA → Lanjut countdown
     TIDAK → NORMAL
</a:t>
            </a:r>
            <a:pPr indent="0" marL="0">
              <a:lnSpc>
                <a:spcPts val="1400"/>
              </a:lnSpc>
              <a:buNone/>
            </a:pPr>
            <a:r>
              <a:rPr lang="en-US" sz="800" b="1" dirty="0">
                <a:solidFill>
                  <a:srgbClr val="0F172A"/>
                </a:solidFill>
                <a:latin typeface="Arial" pitchFamily="34" charset="0"/>
                <a:ea typeface="Arial" pitchFamily="34" charset="-122"/>
                <a:cs typeface="Arial" pitchFamily="34" charset="-120"/>
              </a:rPr>
              <a:t>6. Lockout Countdown
</a:t>
            </a:r>
            <a:pPr indent="0" marL="0">
              <a:lnSpc>
                <a:spcPts val="1400"/>
              </a:lnSpc>
              <a:buNone/>
            </a:pPr>
            <a:r>
              <a:rPr lang="en-US" sz="800" dirty="0">
                <a:solidFill>
                  <a:srgbClr val="334155"/>
                </a:solidFill>
                <a:latin typeface="Arial" pitchFamily="34" charset="0"/>
                <a:ea typeface="Arial" pitchFamily="34" charset="-122"/>
                <a:cs typeface="Arial" pitchFamily="34" charset="-120"/>
              </a:rPr>
              <a:t>   -100ms per iterasi
   Selesai → CLEAR → Reset
</a:t>
            </a:r>
            <a:pPr indent="0" marL="0">
              <a:lnSpc>
                <a:spcPts val="1400"/>
              </a:lnSpc>
              <a:buNone/>
            </a:pPr>
            <a:r>
              <a:rPr lang="en-US" sz="800" b="1" dirty="0">
                <a:solidFill>
                  <a:srgbClr val="3B82F6"/>
                </a:solidFill>
                <a:latin typeface="Arial" pitchFamily="34" charset="0"/>
                <a:ea typeface="Arial" pitchFamily="34" charset="-122"/>
                <a:cs typeface="Arial" pitchFamily="34" charset="-120"/>
              </a:rPr>
              <a:t>7. DELAY 100ms → LOOP
</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Rangkaian Simulasi — Proteus 9.00 VSM</a:t>
            </a:r>
            <a:endParaRPr lang="en-US" sz="2400" dirty="0"/>
          </a:p>
        </p:txBody>
      </p:sp>
      <p:pic>
        <p:nvPicPr>
          <p:cNvPr id="3" name="Image 0" descr="D:/Win/Doc/MAHASISWA/4/PemKom/ETS/Laporan/1.png">    </p:cNvPr>
          <p:cNvPicPr>
            <a:picLocks noChangeAspect="1"/>
          </p:cNvPicPr>
          <p:nvPr/>
        </p:nvPicPr>
        <p:blipFill>
          <a:blip r:embed="rId1"/>
          <a:stretch>
            <a:fillRect/>
          </a:stretch>
        </p:blipFill>
        <p:spPr>
          <a:xfrm>
            <a:off x="182880" y="731520"/>
            <a:ext cx="4572000" cy="2377440"/>
          </a:xfrm>
          <a:prstGeom prst="rect">
            <a:avLst/>
          </a:prstGeom>
        </p:spPr>
      </p:pic>
      <p:pic>
        <p:nvPicPr>
          <p:cNvPr id="4" name="Image 1" descr="D:/Win/Doc/MAHASISWA/4/PemKom/ETS/Laporan/2.png">    </p:cNvPr>
          <p:cNvPicPr>
            <a:picLocks noChangeAspect="1"/>
          </p:cNvPicPr>
          <p:nvPr/>
        </p:nvPicPr>
        <p:blipFill>
          <a:blip r:embed="rId2"/>
          <a:stretch>
            <a:fillRect/>
          </a:stretch>
        </p:blipFill>
        <p:spPr>
          <a:xfrm>
            <a:off x="5029200" y="731520"/>
            <a:ext cx="4572000" cy="2377440"/>
          </a:xfrm>
          <a:prstGeom prst="rect">
            <a:avLst/>
          </a:prstGeom>
        </p:spPr>
      </p:pic>
      <p:sp>
        <p:nvSpPr>
          <p:cNvPr id="5" name="Text 1"/>
          <p:cNvSpPr/>
          <p:nvPr/>
        </p:nvSpPr>
        <p:spPr>
          <a:xfrm>
            <a:off x="182880" y="3154680"/>
            <a:ext cx="4572000" cy="22860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Kondisi FAULT: LED Merah (GPIO3) ON, Hijau OFF</a:t>
            </a:r>
            <a:endParaRPr lang="en-US" sz="900" dirty="0"/>
          </a:p>
        </p:txBody>
      </p:sp>
      <p:sp>
        <p:nvSpPr>
          <p:cNvPr id="6" name="Text 2"/>
          <p:cNvSpPr/>
          <p:nvPr/>
        </p:nvSpPr>
        <p:spPr>
          <a:xfrm>
            <a:off x="5029200" y="3154680"/>
            <a:ext cx="4572000" cy="22860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Kondisi LOCKOUT: LED Merah + Kuning (GPIO5) ON</a:t>
            </a:r>
            <a:endParaRPr lang="en-US" sz="900" dirty="0"/>
          </a:p>
        </p:txBody>
      </p:sp>
      <p:sp>
        <p:nvSpPr>
          <p:cNvPr id="7" name="Shape 3"/>
          <p:cNvSpPr/>
          <p:nvPr/>
        </p:nvSpPr>
        <p:spPr>
          <a:xfrm>
            <a:off x="182880" y="3520440"/>
            <a:ext cx="4572000" cy="2560320"/>
          </a:xfrm>
          <a:prstGeom prst="roundRect">
            <a:avLst>
              <a:gd name="adj" fmla="val 2143"/>
            </a:avLst>
          </a:prstGeom>
          <a:solidFill>
            <a:srgbClr val="F8FAFC"/>
          </a:solidFill>
          <a:ln w="6350">
            <a:solidFill>
              <a:srgbClr val="E2E8F0"/>
            </a:solidFill>
            <a:prstDash val="solid"/>
          </a:ln>
        </p:spPr>
      </p:sp>
      <p:sp>
        <p:nvSpPr>
          <p:cNvPr id="8" name="Text 4"/>
          <p:cNvSpPr/>
          <p:nvPr/>
        </p:nvSpPr>
        <p:spPr>
          <a:xfrm>
            <a:off x="320040" y="3566160"/>
            <a:ext cx="27432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Wiring (Active-High)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3886200"/>
          <a:ext cx="4297680" cy="914400"/>
        </p:xfrm>
        <a:graphic>
          <a:graphicData uri="http://schemas.openxmlformats.org/drawingml/2006/table">
            <a:tbl>
              <a:tblPr/>
              <a:tblGrid>
                <a:gridCol w="1097280"/>
                <a:gridCol w="1371600"/>
                <a:gridCol w="1828800"/>
              </a:tblGrid>
              <a:tr h="274320">
                <a:tc>
                  <a:txBody>
                    <a:bodyPr/>
                    <a:lstStyle/>
                    <a:p>
                      <a:pPr indent="0" marL="0">
                        <a:buNone/>
                      </a:pPr>
                      <a:r>
                        <a:rPr lang="en-US" sz="900" dirty="0">
                          <a:solidFill>
                            <a:srgbClr val="0F172A"/>
                          </a:solidFill>
                          <a:latin typeface="Arial" pitchFamily="34" charset="0"/>
                          <a:ea typeface="Arial" pitchFamily="34" charset="-122"/>
                          <a:cs typeface="Arial" pitchFamily="34" charset="-120"/>
                        </a:rPr>
                        <a:t>Pin</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F172A"/>
                          </a:solidFill>
                          <a:latin typeface="Arial" pitchFamily="34" charset="0"/>
                          <a:ea typeface="Arial" pitchFamily="34" charset="-122"/>
                          <a:cs typeface="Arial" pitchFamily="34" charset="-120"/>
                        </a:rPr>
                        <a:t>Komponen</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F172A"/>
                          </a:solidFill>
                          <a:latin typeface="Arial" pitchFamily="34" charset="0"/>
                          <a:ea typeface="Arial" pitchFamily="34" charset="-122"/>
                          <a:cs typeface="Arial" pitchFamily="34" charset="-120"/>
                        </a:rPr>
                        <a:t>Fungsi</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228600">
                <a:tc>
                  <a:txBody>
                    <a:bodyPr/>
                    <a:lstStyle/>
                    <a:p>
                      <a:pPr indent="0" marL="0">
                        <a:buNone/>
                      </a:pPr>
                      <a:r>
                        <a:rPr lang="en-US" sz="900" dirty="0">
                          <a:solidFill>
                            <a:srgbClr val="0F172A"/>
                          </a:solidFill>
                          <a:latin typeface="Arial" pitchFamily="34" charset="0"/>
                          <a:ea typeface="Arial" pitchFamily="34" charset="-122"/>
                          <a:cs typeface="Arial" pitchFamily="34" charset="-120"/>
                        </a:rPr>
                        <a:t>GPIO3</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F172A"/>
                          </a:solidFill>
                          <a:latin typeface="Arial" pitchFamily="34" charset="0"/>
                          <a:ea typeface="Arial" pitchFamily="34" charset="-122"/>
                          <a:cs typeface="Arial" pitchFamily="34" charset="-120"/>
                        </a:rPr>
                        <a:t>LED Merah</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F172A"/>
                          </a:solidFill>
                          <a:latin typeface="Arial" pitchFamily="34" charset="0"/>
                          <a:ea typeface="Arial" pitchFamily="34" charset="-122"/>
                          <a:cs typeface="Arial" pitchFamily="34" charset="-120"/>
                        </a:rPr>
                        <a:t>Valve tertutup (fault)</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228600">
                <a:tc>
                  <a:txBody>
                    <a:bodyPr/>
                    <a:lstStyle/>
                    <a:p>
                      <a:pPr indent="0" marL="0">
                        <a:buNone/>
                      </a:pPr>
                      <a:r>
                        <a:rPr lang="en-US" sz="900" dirty="0">
                          <a:solidFill>
                            <a:srgbClr val="0F172A"/>
                          </a:solidFill>
                          <a:latin typeface="Arial" pitchFamily="34" charset="0"/>
                          <a:ea typeface="Arial" pitchFamily="34" charset="-122"/>
                          <a:cs typeface="Arial" pitchFamily="34" charset="-120"/>
                        </a:rPr>
                        <a:t>GPIO4</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F172A"/>
                          </a:solidFill>
                          <a:latin typeface="Arial" pitchFamily="34" charset="0"/>
                          <a:ea typeface="Arial" pitchFamily="34" charset="-122"/>
                          <a:cs typeface="Arial" pitchFamily="34" charset="-120"/>
                        </a:rPr>
                        <a:t>LED Hijau</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F172A"/>
                          </a:solidFill>
                          <a:latin typeface="Arial" pitchFamily="34" charset="0"/>
                          <a:ea typeface="Arial" pitchFamily="34" charset="-122"/>
                          <a:cs typeface="Arial" pitchFamily="34" charset="-120"/>
                        </a:rPr>
                        <a:t>Sistem normal</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228600">
                <a:tc>
                  <a:txBody>
                    <a:bodyPr/>
                    <a:lstStyle/>
                    <a:p>
                      <a:pPr indent="0" marL="0">
                        <a:buNone/>
                      </a:pPr>
                      <a:r>
                        <a:rPr lang="en-US" sz="900" dirty="0">
                          <a:solidFill>
                            <a:srgbClr val="0F172A"/>
                          </a:solidFill>
                          <a:latin typeface="Arial" pitchFamily="34" charset="0"/>
                          <a:ea typeface="Arial" pitchFamily="34" charset="-122"/>
                          <a:cs typeface="Arial" pitchFamily="34" charset="-120"/>
                        </a:rPr>
                        <a:t>GPIO5</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F172A"/>
                          </a:solidFill>
                          <a:latin typeface="Arial" pitchFamily="34" charset="0"/>
                          <a:ea typeface="Arial" pitchFamily="34" charset="-122"/>
                          <a:cs typeface="Arial" pitchFamily="34" charset="-120"/>
                        </a:rPr>
                        <a:t>LED Kuning</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F172A"/>
                          </a:solidFill>
                          <a:latin typeface="Arial" pitchFamily="34" charset="0"/>
                          <a:ea typeface="Arial" pitchFamily="34" charset="-122"/>
                          <a:cs typeface="Arial" pitchFamily="34" charset="-120"/>
                        </a:rPr>
                        <a:t>Lockout aktif</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228600">
                <a:tc>
                  <a:txBody>
                    <a:bodyPr/>
                    <a:lstStyle/>
                    <a:p>
                      <a:pPr indent="0" marL="0">
                        <a:buNone/>
                      </a:pPr>
                      <a:r>
                        <a:rPr lang="en-US" sz="900" dirty="0">
                          <a:solidFill>
                            <a:srgbClr val="0F172A"/>
                          </a:solidFill>
                          <a:latin typeface="Arial" pitchFamily="34" charset="0"/>
                          <a:ea typeface="Arial" pitchFamily="34" charset="-122"/>
                          <a:cs typeface="Arial" pitchFamily="34" charset="-120"/>
                        </a:rPr>
                        <a:t>GPIO15</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F172A"/>
                          </a:solidFill>
                          <a:latin typeface="Arial" pitchFamily="34" charset="0"/>
                          <a:ea typeface="Arial" pitchFamily="34" charset="-122"/>
                          <a:cs typeface="Arial" pitchFamily="34" charset="-120"/>
                        </a:rPr>
                        <a:t>Push-Button</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0F172A"/>
                          </a:solidFill>
                          <a:latin typeface="Arial" pitchFamily="34" charset="0"/>
                          <a:ea typeface="Arial" pitchFamily="34" charset="-122"/>
                          <a:cs typeface="Arial" pitchFamily="34" charset="-120"/>
                        </a:rPr>
                        <a:t>Fault injection (pull-down 10kΩ)</a:t>
                      </a:r>
                      <a:endParaRPr lang="en-US" sz="90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bl>
          </a:graphicData>
        </a:graphic>
      </p:graphicFrame>
      <p:sp>
        <p:nvSpPr>
          <p:cNvPr id="10" name="Shape 5"/>
          <p:cNvSpPr/>
          <p:nvPr/>
        </p:nvSpPr>
        <p:spPr>
          <a:xfrm>
            <a:off x="5029200" y="3520440"/>
            <a:ext cx="4572000" cy="2560320"/>
          </a:xfrm>
          <a:prstGeom prst="roundRect">
            <a:avLst>
              <a:gd name="adj" fmla="val 2143"/>
            </a:avLst>
          </a:prstGeom>
          <a:solidFill>
            <a:srgbClr val="F8FAFC"/>
          </a:solidFill>
          <a:ln w="6350">
            <a:solidFill>
              <a:srgbClr val="E2E8F0"/>
            </a:solidFill>
            <a:prstDash val="solid"/>
          </a:ln>
        </p:spPr>
      </p:sp>
      <p:sp>
        <p:nvSpPr>
          <p:cNvPr id="11" name="Text 6"/>
          <p:cNvSpPr/>
          <p:nvPr/>
        </p:nvSpPr>
        <p:spPr>
          <a:xfrm>
            <a:off x="5166360" y="3566160"/>
            <a:ext cx="36576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Sensor — Normal vs Injeksi</a:t>
            </a:r>
            <a:endParaRPr lang="en-US" sz="11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166360" y="3886200"/>
          <a:ext cx="4297680" cy="914400"/>
        </p:xfrm>
        <a:graphic>
          <a:graphicData uri="http://schemas.openxmlformats.org/drawingml/2006/table">
            <a:tbl>
              <a:tblPr/>
              <a:tblGrid>
                <a:gridCol w="914400"/>
                <a:gridCol w="1005840"/>
                <a:gridCol w="1188720"/>
                <a:gridCol w="1188720"/>
              </a:tblGrid>
              <a:tr h="274320">
                <a:tc>
                  <a:txBody>
                    <a:bodyPr/>
                    <a:lstStyle/>
                    <a:p>
                      <a:pPr indent="0" marL="0">
                        <a:buNone/>
                      </a:pPr>
                      <a:r>
                        <a:rPr lang="en-US" sz="850" dirty="0">
                          <a:solidFill>
                            <a:srgbClr val="0F172A"/>
                          </a:solidFill>
                          <a:latin typeface="Arial" pitchFamily="34" charset="0"/>
                          <a:ea typeface="Arial" pitchFamily="34" charset="-122"/>
                          <a:cs typeface="Arial" pitchFamily="34" charset="-120"/>
                        </a:rPr>
                        <a:t>Sensor</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Normal</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Injeksi MINOR</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Injeksi CRITICAL</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201168">
                <a:tc>
                  <a:txBody>
                    <a:bodyPr/>
                    <a:lstStyle/>
                    <a:p>
                      <a:pPr indent="0" marL="0">
                        <a:buNone/>
                      </a:pPr>
                      <a:r>
                        <a:rPr lang="en-US" sz="850" dirty="0">
                          <a:solidFill>
                            <a:srgbClr val="0F172A"/>
                          </a:solidFill>
                          <a:latin typeface="Arial" pitchFamily="34" charset="0"/>
                          <a:ea typeface="Arial" pitchFamily="34" charset="-122"/>
                          <a:cs typeface="Arial" pitchFamily="34" charset="-120"/>
                        </a:rPr>
                        <a:t>Suhu</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25°C</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99°C</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99°C</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201168">
                <a:tc>
                  <a:txBody>
                    <a:bodyPr/>
                    <a:lstStyle/>
                    <a:p>
                      <a:pPr indent="0" marL="0">
                        <a:buNone/>
                      </a:pPr>
                      <a:r>
                        <a:rPr lang="en-US" sz="850" dirty="0">
                          <a:solidFill>
                            <a:srgbClr val="0F172A"/>
                          </a:solidFill>
                          <a:latin typeface="Arial" pitchFamily="34" charset="0"/>
                          <a:ea typeface="Arial" pitchFamily="34" charset="-122"/>
                          <a:cs typeface="Arial" pitchFamily="34" charset="-120"/>
                        </a:rPr>
                        <a:t>Tekanan</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1013 hPa</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1013 hPa (normal)</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0 hPa (GAGAL)</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201168">
                <a:tc>
                  <a:txBody>
                    <a:bodyPr/>
                    <a:lstStyle/>
                    <a:p>
                      <a:pPr indent="0" marL="0">
                        <a:buNone/>
                      </a:pPr>
                      <a:r>
                        <a:rPr lang="en-US" sz="850" dirty="0">
                          <a:solidFill>
                            <a:srgbClr val="0F172A"/>
                          </a:solidFill>
                          <a:latin typeface="Arial" pitchFamily="34" charset="0"/>
                          <a:ea typeface="Arial" pitchFamily="34" charset="-122"/>
                          <a:cs typeface="Arial" pitchFamily="34" charset="-120"/>
                        </a:rPr>
                        <a:t>Vibrasi</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5</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9999</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9999</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201168">
                <a:tc>
                  <a:txBody>
                    <a:bodyPr/>
                    <a:lstStyle/>
                    <a:p>
                      <a:pPr indent="0" marL="0">
                        <a:buNone/>
                      </a:pPr>
                      <a:r>
                        <a:rPr lang="en-US" sz="850" dirty="0">
                          <a:solidFill>
                            <a:srgbClr val="0F172A"/>
                          </a:solidFill>
                          <a:latin typeface="Arial" pitchFamily="34" charset="0"/>
                          <a:ea typeface="Arial" pitchFamily="34" charset="-122"/>
                          <a:cs typeface="Arial" pitchFamily="34" charset="-120"/>
                        </a:rPr>
                        <a:t>Anomali</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0/3</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2/3</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3/3</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2400" b="1" dirty="0">
                <a:solidFill>
                  <a:srgbClr val="D97706"/>
                </a:solidFill>
                <a:latin typeface="Arial" pitchFamily="34" charset="0"/>
                <a:ea typeface="Arial" pitchFamily="34" charset="-122"/>
                <a:cs typeface="Arial" pitchFamily="34" charset="-120"/>
              </a:rPr>
              <a:t>Skenario 1 — MINOR Fault (Klik Singkat &lt; 5 detik)</a:t>
            </a:r>
            <a:endParaRPr lang="en-US" sz="2400" dirty="0"/>
          </a:p>
        </p:txBody>
      </p:sp>
      <p:sp>
        <p:nvSpPr>
          <p:cNvPr id="3" name="Shape 1"/>
          <p:cNvSpPr/>
          <p:nvPr/>
        </p:nvSpPr>
        <p:spPr>
          <a:xfrm>
            <a:off x="274320" y="731520"/>
            <a:ext cx="9144000" cy="2560320"/>
          </a:xfrm>
          <a:prstGeom prst="roundRect">
            <a:avLst>
              <a:gd name="adj" fmla="val 2857"/>
            </a:avLst>
          </a:prstGeom>
          <a:solidFill>
            <a:srgbClr val="FFFBEB"/>
          </a:solidFill>
          <a:ln w="15240">
            <a:solidFill>
              <a:srgbClr val="F59E0B"/>
            </a:solidFill>
            <a:prstDash val="solid"/>
          </a:ln>
        </p:spPr>
      </p:sp>
      <p:sp>
        <p:nvSpPr>
          <p:cNvPr id="4" name="Text 2"/>
          <p:cNvSpPr/>
          <p:nvPr/>
        </p:nvSpPr>
        <p:spPr>
          <a:xfrm>
            <a:off x="457200" y="822960"/>
            <a:ext cx="8778240" cy="2377440"/>
          </a:xfrm>
          <a:prstGeom prst="rect">
            <a:avLst/>
          </a:prstGeom>
          <a:noFill/>
          <a:ln/>
        </p:spPr>
        <p:txBody>
          <a:bodyPr wrap="square" rtlCol="0" anchor="ctr"/>
          <a:lstStyle/>
          <a:p>
            <a:pPr indent="0" marL="0">
              <a:lnSpc>
                <a:spcPts val="1800"/>
              </a:lnSpc>
              <a:buNone/>
            </a:pPr>
            <a:r>
              <a:rPr lang="en-US" sz="1300" b="1" dirty="0">
                <a:solidFill>
                  <a:srgbClr val="0F172A"/>
                </a:solidFill>
                <a:latin typeface="Arial" pitchFamily="34" charset="0"/>
                <a:ea typeface="Arial" pitchFamily="34" charset="-122"/>
                <a:cs typeface="Arial" pitchFamily="34" charset="-120"/>
              </a:rPr>
              <a:t>Apa yang terjadi saat tombol ditekan singkat: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1. </a:t>
            </a:r>
            <a:pPr indent="0" marL="0">
              <a:lnSpc>
                <a:spcPts val="1800"/>
              </a:lnSpc>
              <a:buNone/>
            </a:pPr>
            <a:r>
              <a:rPr lang="en-US" sz="1100" dirty="0">
                <a:solidFill>
                  <a:srgbClr val="0F172A"/>
                </a:solidFill>
                <a:latin typeface="Arial" pitchFamily="34" charset="0"/>
                <a:ea typeface="Arial" pitchFamily="34" charset="-122"/>
                <a:cs typeface="Arial" pitchFamily="34" charset="-120"/>
              </a:rPr>
              <a:t>Tombol GPIO15 ditekan dan langsung dilepas (durasi &lt; 5 detik).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2. </a:t>
            </a:r>
            <a:pPr indent="0" marL="0">
              <a:lnSpc>
                <a:spcPts val="1800"/>
              </a:lnSpc>
              <a:buNone/>
            </a:pPr>
            <a:r>
              <a:rPr lang="en-US" sz="1100" dirty="0">
                <a:solidFill>
                  <a:srgbClr val="0F172A"/>
                </a:solidFill>
                <a:latin typeface="Arial" pitchFamily="34" charset="0"/>
                <a:ea typeface="Arial" pitchFamily="34" charset="-122"/>
                <a:cs typeface="Arial" pitchFamily="34" charset="-120"/>
              </a:rPr>
              <a:t>Sticky latch menangkap klik → hold_count mulai dari 1.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3. </a:t>
            </a:r>
            <a:pPr indent="0" marL="0">
              <a:lnSpc>
                <a:spcPts val="1800"/>
              </a:lnSpc>
              <a:buNone/>
            </a:pPr>
            <a:r>
              <a:rPr lang="en-US" sz="1100" dirty="0">
                <a:solidFill>
                  <a:srgbClr val="0F172A"/>
                </a:solidFill>
                <a:latin typeface="Arial" pitchFamily="34" charset="0"/>
                <a:ea typeface="Arial" pitchFamily="34" charset="-122"/>
                <a:cs typeface="Arial" pitchFamily="34" charset="-120"/>
              </a:rPr>
              <a:t>Sensor diinjeksi: suhu 25→99°C (melebihi threshold 80°C), vibrasi 5→9999 (melebihi threshold 500).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4. </a:t>
            </a:r>
            <a:pPr indent="0" marL="0">
              <a:lnSpc>
                <a:spcPts val="1800"/>
              </a:lnSpc>
              <a:buNone/>
            </a:pPr>
            <a:r>
              <a:rPr lang="en-US" sz="1100" dirty="0">
                <a:solidFill>
                  <a:srgbClr val="0F172A"/>
                </a:solidFill>
                <a:latin typeface="Arial" pitchFamily="34" charset="0"/>
                <a:ea typeface="Arial" pitchFamily="34" charset="-122"/>
                <a:cs typeface="Arial" pitchFamily="34" charset="-120"/>
              </a:rPr>
              <a:t>Tekanan TETAP 1013 hPa (dalam range normal 900-1200) — karena hold_count &lt; 50.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5. </a:t>
            </a:r>
            <a:pPr indent="0" marL="0">
              <a:lnSpc>
                <a:spcPts val="1800"/>
              </a:lnSpc>
              <a:buNone/>
            </a:pPr>
            <a:r>
              <a:rPr lang="en-US" sz="1100" dirty="0">
                <a:solidFill>
                  <a:srgbClr val="0F172A"/>
                </a:solidFill>
                <a:latin typeface="Arial" pitchFamily="34" charset="0"/>
                <a:ea typeface="Arial" pitchFamily="34" charset="-122"/>
                <a:cs typeface="Arial" pitchFamily="34" charset="-120"/>
              </a:rPr>
              <a:t>Voting: 2 sensor anomali (suhu + vibrasi) ≥ quorum 2/3 → FAULT DETECTED.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6. </a:t>
            </a:r>
            <a:pPr indent="0" marL="0">
              <a:lnSpc>
                <a:spcPts val="1800"/>
              </a:lnSpc>
              <a:buNone/>
            </a:pPr>
            <a:r>
              <a:rPr lang="en-US" sz="1100" dirty="0">
                <a:solidFill>
                  <a:srgbClr val="0F172A"/>
                </a:solidFill>
                <a:latin typeface="Arial" pitchFamily="34" charset="0"/>
                <a:ea typeface="Arial" pitchFamily="34" charset="-122"/>
                <a:cs typeface="Arial" pitchFamily="34" charset="-120"/>
              </a:rPr>
              <a:t>Klasifikasi: 2/3 anomali → MINOR severity → lockout 500 ms.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7. </a:t>
            </a:r>
            <a:pPr indent="0" marL="0">
              <a:lnSpc>
                <a:spcPts val="1800"/>
              </a:lnSpc>
              <a:buNone/>
            </a:pPr>
            <a:r>
              <a:rPr lang="en-US" sz="1100" dirty="0">
                <a:solidFill>
                  <a:srgbClr val="0F172A"/>
                </a:solidFill>
                <a:latin typeface="Arial" pitchFamily="34" charset="0"/>
                <a:ea typeface="Arial" pitchFamily="34" charset="-122"/>
                <a:cs typeface="Arial" pitchFamily="34" charset="-120"/>
              </a:rPr>
              <a:t>LED Merah (GPIO3) ON, LED Hijau (GPIO4) OFF, LED Kuning (GPIO5) ON.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8. </a:t>
            </a:r>
            <a:pPr indent="0" marL="0">
              <a:lnSpc>
                <a:spcPts val="1800"/>
              </a:lnSpc>
              <a:buNone/>
            </a:pPr>
            <a:r>
              <a:rPr lang="en-US" sz="1100" dirty="0">
                <a:solidFill>
                  <a:srgbClr val="0F172A"/>
                </a:solidFill>
                <a:latin typeface="Arial" pitchFamily="34" charset="0"/>
                <a:ea typeface="Arial" pitchFamily="34" charset="-122"/>
                <a:cs typeface="Arial" pitchFamily="34" charset="-120"/>
              </a:rPr>
              <a:t>Lockout countdown: 500ms → 400ms → 300ms → 200ms → 100ms → 0.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9. </a:t>
            </a:r>
            <a:pPr indent="0" marL="0">
              <a:lnSpc>
                <a:spcPts val="1800"/>
              </a:lnSpc>
              <a:buNone/>
            </a:pPr>
            <a:r>
              <a:rPr lang="en-US" sz="1100" dirty="0">
                <a:solidFill>
                  <a:srgbClr val="0F172A"/>
                </a:solidFill>
                <a:latin typeface="Arial" pitchFamily="34" charset="0"/>
                <a:ea typeface="Arial" pitchFamily="34" charset="-122"/>
                <a:cs typeface="Arial" pitchFamily="34" charset="-120"/>
              </a:rPr>
              <a:t>LOCKOUT CLEARED: sensor di-reset ke normal, LED Merah OFF, LED Kuning OFF, LED Hijau ON.</a:t>
            </a:r>
            <a:endParaRPr lang="en-US" sz="1100" dirty="0"/>
          </a:p>
        </p:txBody>
      </p:sp>
      <p:sp>
        <p:nvSpPr>
          <p:cNvPr id="5" name="Shape 3"/>
          <p:cNvSpPr/>
          <p:nvPr/>
        </p:nvSpPr>
        <p:spPr>
          <a:xfrm>
            <a:off x="274320" y="3474720"/>
            <a:ext cx="9144000" cy="2560320"/>
          </a:xfrm>
          <a:prstGeom prst="roundRect">
            <a:avLst>
              <a:gd name="adj" fmla="val 2857"/>
            </a:avLst>
          </a:prstGeom>
          <a:solidFill>
            <a:srgbClr val="0F172A"/>
          </a:solidFill>
          <a:ln/>
        </p:spPr>
      </p:sp>
      <p:sp>
        <p:nvSpPr>
          <p:cNvPr id="6" name="Text 4"/>
          <p:cNvSpPr/>
          <p:nvPr/>
        </p:nvSpPr>
        <p:spPr>
          <a:xfrm>
            <a:off x="457200" y="3566160"/>
            <a:ext cx="365760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Output CSV dari Debug Console Proteus:</a:t>
            </a:r>
            <a:endParaRPr lang="en-US" sz="1000" dirty="0"/>
          </a:p>
        </p:txBody>
      </p:sp>
      <p:sp>
        <p:nvSpPr>
          <p:cNvPr id="7" name="Text 5"/>
          <p:cNvSpPr/>
          <p:nvPr/>
        </p:nvSpPr>
        <p:spPr>
          <a:xfrm>
            <a:off x="457200" y="3886200"/>
            <a:ext cx="8778240" cy="2011680"/>
          </a:xfrm>
          <a:prstGeom prst="rect">
            <a:avLst/>
          </a:prstGeom>
          <a:noFill/>
          <a:ln/>
        </p:spPr>
        <p:txBody>
          <a:bodyPr wrap="square" rtlCol="0" anchor="ctr"/>
          <a:lstStyle/>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iter  temp  press  vib   lat  status</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4    99   1013   9999   45  FAULT_DETECTED(MINOR,2/3)    ← fault terdeteksi</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5    99   1013   9999    0  LOCKOUT_ACTIVE(400ms)</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6    99   1013   9999    0  LOCKOUT_ACTIVE(300ms)</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7    99   1013   9999    0  LOCKOUT_ACTIVE(200ms)</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8    99   1013   9999    0  LOCKOUT_ACTIVE(100ms)</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9    99   1013   9999    0  LOCKOUT_CLEARED                ← 5 iterasi = 500ms ✓</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2400" b="1" dirty="0">
                <a:solidFill>
                  <a:srgbClr val="DC2626"/>
                </a:solidFill>
                <a:latin typeface="Arial" pitchFamily="34" charset="0"/>
                <a:ea typeface="Arial" pitchFamily="34" charset="-122"/>
                <a:cs typeface="Arial" pitchFamily="34" charset="-120"/>
              </a:rPr>
              <a:t>Skenario 2 — CRITICAL Fault (Tahan ≥ 5 detik)</a:t>
            </a:r>
            <a:endParaRPr lang="en-US" sz="2400" dirty="0"/>
          </a:p>
        </p:txBody>
      </p:sp>
      <p:sp>
        <p:nvSpPr>
          <p:cNvPr id="3" name="Shape 1"/>
          <p:cNvSpPr/>
          <p:nvPr/>
        </p:nvSpPr>
        <p:spPr>
          <a:xfrm>
            <a:off x="274320" y="731520"/>
            <a:ext cx="9144000" cy="2560320"/>
          </a:xfrm>
          <a:prstGeom prst="roundRect">
            <a:avLst>
              <a:gd name="adj" fmla="val 2857"/>
            </a:avLst>
          </a:prstGeom>
          <a:solidFill>
            <a:srgbClr val="FEF2F2"/>
          </a:solidFill>
          <a:ln w="15240">
            <a:solidFill>
              <a:srgbClr val="EF4444"/>
            </a:solidFill>
            <a:prstDash val="solid"/>
          </a:ln>
        </p:spPr>
      </p:sp>
      <p:sp>
        <p:nvSpPr>
          <p:cNvPr id="4" name="Text 2"/>
          <p:cNvSpPr/>
          <p:nvPr/>
        </p:nvSpPr>
        <p:spPr>
          <a:xfrm>
            <a:off x="457200" y="822960"/>
            <a:ext cx="8778240" cy="2377440"/>
          </a:xfrm>
          <a:prstGeom prst="rect">
            <a:avLst/>
          </a:prstGeom>
          <a:noFill/>
          <a:ln/>
        </p:spPr>
        <p:txBody>
          <a:bodyPr wrap="square" rtlCol="0" anchor="ctr"/>
          <a:lstStyle/>
          <a:p>
            <a:pPr indent="0" marL="0">
              <a:lnSpc>
                <a:spcPts val="1800"/>
              </a:lnSpc>
              <a:buNone/>
            </a:pPr>
            <a:r>
              <a:rPr lang="en-US" sz="1300" b="1" dirty="0">
                <a:solidFill>
                  <a:srgbClr val="0F172A"/>
                </a:solidFill>
                <a:latin typeface="Arial" pitchFamily="34" charset="0"/>
                <a:ea typeface="Arial" pitchFamily="34" charset="-122"/>
                <a:cs typeface="Arial" pitchFamily="34" charset="-120"/>
              </a:rPr>
              <a:t>Apa yang terjadi saat tombol DITAHAN ≥ 5 detik: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1. </a:t>
            </a:r>
            <a:pPr indent="0" marL="0">
              <a:lnSpc>
                <a:spcPts val="1800"/>
              </a:lnSpc>
              <a:buNone/>
            </a:pPr>
            <a:r>
              <a:rPr lang="en-US" sz="1100" dirty="0">
                <a:solidFill>
                  <a:srgbClr val="0F172A"/>
                </a:solidFill>
                <a:latin typeface="Arial" pitchFamily="34" charset="0"/>
                <a:ea typeface="Arial" pitchFamily="34" charset="-122"/>
                <a:cs typeface="Arial" pitchFamily="34" charset="-120"/>
              </a:rPr>
              <a:t>Tombol GPIO15 ditekan dan DITAHAN. Sistem mulai menghitung hold_count.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2. </a:t>
            </a:r>
            <a:pPr indent="0" marL="0">
              <a:lnSpc>
                <a:spcPts val="1800"/>
              </a:lnSpc>
              <a:buNone/>
            </a:pPr>
            <a:r>
              <a:rPr lang="en-US" sz="1100" dirty="0">
                <a:solidFill>
                  <a:srgbClr val="0F172A"/>
                </a:solidFill>
                <a:latin typeface="Arial" pitchFamily="34" charset="0"/>
                <a:ea typeface="Arial" pitchFamily="34" charset="-122"/>
                <a:cs typeface="Arial" pitchFamily="34" charset="-120"/>
              </a:rPr>
              <a:t>0–5 detik pertama: hold_count 1→49. Sistem mendeteksi MINOR (2/3 anomali) berulang kali.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3. </a:t>
            </a:r>
            <a:pPr indent="0" marL="0">
              <a:lnSpc>
                <a:spcPts val="1800"/>
              </a:lnSpc>
              <a:buNone/>
            </a:pPr>
            <a:r>
              <a:rPr lang="en-US" sz="1100" dirty="0">
                <a:solidFill>
                  <a:srgbClr val="DC2626"/>
                </a:solidFill>
                <a:latin typeface="Arial" pitchFamily="34" charset="0"/>
                <a:ea typeface="Arial" pitchFamily="34" charset="-122"/>
                <a:cs typeface="Arial" pitchFamily="34" charset="-120"/>
              </a:rPr>
              <a:t>Pada detik ke-5 (hold_count = 50): TRIGGER CRITICAL!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4. </a:t>
            </a:r>
            <a:pPr indent="0" marL="0">
              <a:lnSpc>
                <a:spcPts val="1800"/>
              </a:lnSpc>
              <a:buNone/>
            </a:pPr>
            <a:r>
              <a:rPr lang="en-US" sz="1100" dirty="0">
                <a:solidFill>
                  <a:srgbClr val="0F172A"/>
                </a:solidFill>
                <a:latin typeface="Arial" pitchFamily="34" charset="0"/>
                <a:ea typeface="Arial" pitchFamily="34" charset="-122"/>
                <a:cs typeface="Arial" pitchFamily="34" charset="-120"/>
              </a:rPr>
              <a:t>Sensor diinjeksi: suhu 99°C, vibrasi 9999, DAN tekanan 0 hPa (di luar range 900-1200).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5. </a:t>
            </a:r>
            <a:pPr indent="0" marL="0">
              <a:lnSpc>
                <a:spcPts val="1800"/>
              </a:lnSpc>
              <a:buNone/>
            </a:pPr>
            <a:r>
              <a:rPr lang="en-US" sz="1100" dirty="0">
                <a:solidFill>
                  <a:srgbClr val="0F172A"/>
                </a:solidFill>
                <a:latin typeface="Arial" pitchFamily="34" charset="0"/>
                <a:ea typeface="Arial" pitchFamily="34" charset="-122"/>
                <a:cs typeface="Arial" pitchFamily="34" charset="-120"/>
              </a:rPr>
              <a:t>Tekanan 0 hPa mensimulasikan KEGAGALAN TOTAL sensor tekanan (kabel putus, kerusakan hardware).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6. </a:t>
            </a:r>
            <a:pPr indent="0" marL="0">
              <a:lnSpc>
                <a:spcPts val="1800"/>
              </a:lnSpc>
              <a:buNone/>
            </a:pPr>
            <a:r>
              <a:rPr lang="en-US" sz="1100" dirty="0">
                <a:solidFill>
                  <a:srgbClr val="0F172A"/>
                </a:solidFill>
                <a:latin typeface="Arial" pitchFamily="34" charset="0"/>
                <a:ea typeface="Arial" pitchFamily="34" charset="-122"/>
                <a:cs typeface="Arial" pitchFamily="34" charset="-120"/>
              </a:rPr>
              <a:t>Voting: 3 sensor anomali (suhu + vibrasi + tekanan) = SEMUA GAGAL → CRITICAL FAULT.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7. </a:t>
            </a:r>
            <a:pPr indent="0" marL="0">
              <a:lnSpc>
                <a:spcPts val="1800"/>
              </a:lnSpc>
              <a:buNone/>
            </a:pPr>
            <a:r>
              <a:rPr lang="en-US" sz="1100" dirty="0">
                <a:solidFill>
                  <a:srgbClr val="0F172A"/>
                </a:solidFill>
                <a:latin typeface="Arial" pitchFamily="34" charset="0"/>
                <a:ea typeface="Arial" pitchFamily="34" charset="-122"/>
                <a:cs typeface="Arial" pitchFamily="34" charset="-120"/>
              </a:rPr>
              <a:t>Klasifikasi: 3/3 anomali → CRITICAL severity → lockout 2000 ms (4× lebih lama dari MINOR).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8. </a:t>
            </a:r>
            <a:pPr indent="0" marL="0">
              <a:lnSpc>
                <a:spcPts val="1800"/>
              </a:lnSpc>
              <a:buNone/>
            </a:pPr>
            <a:r>
              <a:rPr lang="en-US" sz="1100" dirty="0">
                <a:solidFill>
                  <a:srgbClr val="0F172A"/>
                </a:solidFill>
                <a:latin typeface="Arial" pitchFamily="34" charset="0"/>
                <a:ea typeface="Arial" pitchFamily="34" charset="-122"/>
                <a:cs typeface="Arial" pitchFamily="34" charset="-120"/>
              </a:rPr>
              <a:t>LED Merah ON, LED Kuning ON. Sistem bertahan dalam posisi AMAN selama 2 detik penuh.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9. </a:t>
            </a:r>
            <a:pPr indent="0" marL="0">
              <a:lnSpc>
                <a:spcPts val="1800"/>
              </a:lnSpc>
              <a:buNone/>
            </a:pPr>
            <a:r>
              <a:rPr lang="en-US" sz="1100" dirty="0">
                <a:solidFill>
                  <a:srgbClr val="0F172A"/>
                </a:solidFill>
                <a:latin typeface="Arial" pitchFamily="34" charset="0"/>
                <a:ea typeface="Arial" pitchFamily="34" charset="-122"/>
                <a:cs typeface="Arial" pitchFamily="34" charset="-120"/>
              </a:rPr>
              <a:t>Setelah 2000ms: LOCKOUT CLEARED, sensor di-reset, sistem kembali ke NORMAL.</a:t>
            </a:r>
            <a:endParaRPr lang="en-US" sz="1100" dirty="0"/>
          </a:p>
        </p:txBody>
      </p:sp>
      <p:sp>
        <p:nvSpPr>
          <p:cNvPr id="5" name="Shape 3"/>
          <p:cNvSpPr/>
          <p:nvPr/>
        </p:nvSpPr>
        <p:spPr>
          <a:xfrm>
            <a:off x="274320" y="3474720"/>
            <a:ext cx="9144000" cy="2560320"/>
          </a:xfrm>
          <a:prstGeom prst="roundRect">
            <a:avLst>
              <a:gd name="adj" fmla="val 2857"/>
            </a:avLst>
          </a:prstGeom>
          <a:solidFill>
            <a:srgbClr val="0F172A"/>
          </a:solidFill>
          <a:ln/>
        </p:spPr>
      </p:sp>
      <p:sp>
        <p:nvSpPr>
          <p:cNvPr id="6" name="Text 4"/>
          <p:cNvSpPr/>
          <p:nvPr/>
        </p:nvSpPr>
        <p:spPr>
          <a:xfrm>
            <a:off x="457200" y="3566160"/>
            <a:ext cx="3657600" cy="274320"/>
          </a:xfrm>
          <a:prstGeom prst="rect">
            <a:avLst/>
          </a:prstGeom>
          <a:noFill/>
          <a:ln/>
        </p:spPr>
        <p:txBody>
          <a:bodyPr wrap="square" rtlCol="0" anchor="ctr"/>
          <a:lstStyle/>
          <a:p>
            <a:pPr indent="0" marL="0">
              <a:buNone/>
            </a:pPr>
            <a:r>
              <a:rPr lang="en-US" sz="1000" b="1" dirty="0">
                <a:solidFill>
                  <a:srgbClr val="EF4444"/>
                </a:solidFill>
                <a:latin typeface="Arial" pitchFamily="34" charset="0"/>
                <a:ea typeface="Arial" pitchFamily="34" charset="-122"/>
                <a:cs typeface="Arial" pitchFamily="34" charset="-120"/>
              </a:rPr>
              <a:t>Output CSV dari Debug Console Proteus:</a:t>
            </a:r>
            <a:endParaRPr lang="en-US" sz="1000" dirty="0"/>
          </a:p>
        </p:txBody>
      </p:sp>
      <p:sp>
        <p:nvSpPr>
          <p:cNvPr id="7" name="Text 5"/>
          <p:cNvSpPr/>
          <p:nvPr/>
        </p:nvSpPr>
        <p:spPr>
          <a:xfrm>
            <a:off x="457200" y="3886200"/>
            <a:ext cx="8778240" cy="2011680"/>
          </a:xfrm>
          <a:prstGeom prst="rect">
            <a:avLst/>
          </a:prstGeom>
          <a:noFill/>
          <a:ln/>
        </p:spPr>
        <p:txBody>
          <a:bodyPr wrap="square" rtlCol="0" anchor="ctr"/>
          <a:lstStyle/>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iter  temp  press  vib   lat  status</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107   99    0     9999   45  FAULT_DETECTED(CRITICAL,3/3)   ← press=0!</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108   99    0     9999    0  LOCKOUT_ACTIVE(1900ms)</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109   99    0     9999    0  LOCKOUT_ACTIVE(1800ms)</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126   99    0     9999    0  LOCKOUT_ACTIVE(100ms)</a:t>
            </a:r>
            <a:endParaRPr lang="en-US" sz="950" dirty="0"/>
          </a:p>
          <a:p>
            <a:pPr indent="0" marL="0">
              <a:lnSpc>
                <a:spcPts val="1700"/>
              </a:lnSpc>
              <a:buNone/>
            </a:pPr>
            <a:r>
              <a:rPr lang="en-US" sz="950" dirty="0">
                <a:solidFill>
                  <a:srgbClr val="CBD5E1"/>
                </a:solidFill>
                <a:latin typeface="Consolas" pitchFamily="34" charset="0"/>
                <a:ea typeface="Consolas" pitchFamily="34" charset="-122"/>
                <a:cs typeface="Consolas" pitchFamily="34" charset="-120"/>
              </a:rPr>
              <a:t> 127   99    0     9999    0  LOCKOUT_CLEARED                 ← 20 iterasi = 2000ms ✓</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Perbandingan MINOR vs CRITICAL — Adaptive Lockout Terbukti</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731520"/>
          <a:ext cx="9144000" cy="914400"/>
        </p:xfrm>
        <a:graphic>
          <a:graphicData uri="http://schemas.openxmlformats.org/drawingml/2006/table">
            <a:tbl>
              <a:tblPr/>
              <a:tblGrid>
                <a:gridCol w="1828800"/>
                <a:gridCol w="2286000"/>
                <a:gridCol w="2560320"/>
                <a:gridCol w="2468880"/>
              </a:tblGrid>
              <a:tr h="411480">
                <a:tc>
                  <a:txBody>
                    <a:bodyPr/>
                    <a:lstStyle/>
                    <a:p>
                      <a:pPr indent="0" marL="0">
                        <a:buNone/>
                      </a:pPr>
                      <a:r>
                        <a:rPr lang="en-US" sz="1000" dirty="0">
                          <a:solidFill>
                            <a:srgbClr val="0F172A"/>
                          </a:solidFill>
                          <a:latin typeface="Arial" pitchFamily="34" charset="0"/>
                          <a:ea typeface="Arial" pitchFamily="34" charset="-122"/>
                          <a:cs typeface="Arial" pitchFamily="34" charset="-120"/>
                        </a:rPr>
                        <a:t>Parameter</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MINOR</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CRITICAL</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Kesimpulan</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57200">
                <a:tc>
                  <a:txBody>
                    <a:bodyPr/>
                    <a:lstStyle/>
                    <a:p>
                      <a:pPr indent="0" marL="0">
                        <a:buNone/>
                      </a:pPr>
                      <a:r>
                        <a:rPr lang="en-US" sz="1000" dirty="0">
                          <a:solidFill>
                            <a:srgbClr val="0F172A"/>
                          </a:solidFill>
                          <a:latin typeface="Arial" pitchFamily="34" charset="0"/>
                          <a:ea typeface="Arial" pitchFamily="34" charset="-122"/>
                          <a:cs typeface="Arial" pitchFamily="34" charset="-120"/>
                        </a:rPr>
                        <a:t>Trigger</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Klik &lt; 5 detik</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Tahan ≥ 5 detik</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Durasi tekan menentukan severity</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57200">
                <a:tc>
                  <a:txBody>
                    <a:bodyPr/>
                    <a:lstStyle/>
                    <a:p>
                      <a:pPr indent="0" marL="0">
                        <a:buNone/>
                      </a:pPr>
                      <a:r>
                        <a:rPr lang="en-US" sz="1000" dirty="0">
                          <a:solidFill>
                            <a:srgbClr val="0F172A"/>
                          </a:solidFill>
                          <a:latin typeface="Arial" pitchFamily="34" charset="0"/>
                          <a:ea typeface="Arial" pitchFamily="34" charset="-122"/>
                          <a:cs typeface="Arial" pitchFamily="34" charset="-120"/>
                        </a:rPr>
                        <a:t>Sensor Anomali</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2 dari 3</a:t>
                      </a:r>
                      <a:endParaRPr lang="en-US" sz="1000" dirty="0">
                        <a:latin typeface="Arial" charset="0"/>
                        <a:ea typeface="Arial" charset="0"/>
                        <a:cs typeface="Arial" charset="0"/>
                      </a:endParaRPr>
                    </a:p>
                    <a:p>
                      <a:pPr indent="0" marL="0">
                        <a:buNone/>
                      </a:pPr>
                      <a:r>
                        <a:rPr lang="en-US" sz="1000" dirty="0">
                          <a:solidFill>
                            <a:srgbClr val="0F172A"/>
                          </a:solidFill>
                          <a:latin typeface="Arial" pitchFamily="34" charset="0"/>
                          <a:ea typeface="Arial" pitchFamily="34" charset="-122"/>
                          <a:cs typeface="Arial" pitchFamily="34" charset="-120"/>
                        </a:rPr>
                        <a:t>(suhu + vibrasi)</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3 dari 3</a:t>
                      </a:r>
                      <a:endParaRPr lang="en-US" sz="1000" dirty="0">
                        <a:latin typeface="Arial" charset="0"/>
                        <a:ea typeface="Arial" charset="0"/>
                        <a:cs typeface="Arial" charset="0"/>
                      </a:endParaRPr>
                    </a:p>
                    <a:p>
                      <a:pPr indent="0" marL="0">
                        <a:buNone/>
                      </a:pPr>
                      <a:r>
                        <a:rPr lang="en-US" sz="1000" dirty="0">
                          <a:solidFill>
                            <a:srgbClr val="0F172A"/>
                          </a:solidFill>
                          <a:latin typeface="Arial" pitchFamily="34" charset="0"/>
                          <a:ea typeface="Arial" pitchFamily="34" charset="-122"/>
                          <a:cs typeface="Arial" pitchFamily="34" charset="-120"/>
                        </a:rPr>
                        <a:t>(semua sensor)</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Jumlah anomali menentukan lockout</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11480">
                <a:tc>
                  <a:txBody>
                    <a:bodyPr/>
                    <a:lstStyle/>
                    <a:p>
                      <a:pPr indent="0" marL="0">
                        <a:buNone/>
                      </a:pPr>
                      <a:r>
                        <a:rPr lang="en-US" sz="1000" dirty="0">
                          <a:solidFill>
                            <a:srgbClr val="0F172A"/>
                          </a:solidFill>
                          <a:latin typeface="Arial" pitchFamily="34" charset="0"/>
                          <a:ea typeface="Arial" pitchFamily="34" charset="-122"/>
                          <a:cs typeface="Arial" pitchFamily="34" charset="-120"/>
                        </a:rPr>
                        <a:t>Tekanan</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1013 hPa (normal)</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0 hPa (GAGAL TOTAL)</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Tekanan 0 = simulasi kerusakan hardware</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000" dirty="0">
                          <a:solidFill>
                            <a:srgbClr val="0F172A"/>
                          </a:solidFill>
                          <a:latin typeface="Arial" pitchFamily="34" charset="0"/>
                          <a:ea typeface="Arial" pitchFamily="34" charset="-122"/>
                          <a:cs typeface="Arial" pitchFamily="34" charset="-120"/>
                        </a:rPr>
                        <a:t>Lockout</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500 ms</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2000 ms</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4× lebih lama untuk CRITICAL</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000" dirty="0">
                          <a:solidFill>
                            <a:srgbClr val="0F172A"/>
                          </a:solidFill>
                          <a:latin typeface="Arial" pitchFamily="34" charset="0"/>
                          <a:ea typeface="Arial" pitchFamily="34" charset="-122"/>
                          <a:cs typeface="Arial" pitchFamily="34" charset="-120"/>
                        </a:rPr>
                        <a:t>Iterasi @100ms</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5 iterasi</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20 iterasi</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Konsisten dengan durasi lockout</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000" dirty="0">
                          <a:solidFill>
                            <a:srgbClr val="0F172A"/>
                          </a:solidFill>
                          <a:latin typeface="Arial" pitchFamily="34" charset="0"/>
                          <a:ea typeface="Arial" pitchFamily="34" charset="-122"/>
                          <a:cs typeface="Arial" pitchFamily="34" charset="-120"/>
                        </a:rPr>
                        <a:t>LED</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Merah+Kuning ON</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Merah+Kuning ON</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Indikator visual sama, durasi berbeda</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000" dirty="0">
                          <a:solidFill>
                            <a:srgbClr val="0F172A"/>
                          </a:solidFill>
                          <a:latin typeface="Arial" pitchFamily="34" charset="0"/>
                          <a:ea typeface="Arial" pitchFamily="34" charset="-122"/>
                          <a:cs typeface="Arial" pitchFamily="34" charset="-120"/>
                        </a:rPr>
                        <a:t>Data Signature</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MINOR,2/3</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CRITICAL,3/3</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Label severity di CSV output</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000" dirty="0">
                          <a:solidFill>
                            <a:srgbClr val="0F172A"/>
                          </a:solidFill>
                          <a:latin typeface="Arial" pitchFamily="34" charset="0"/>
                          <a:ea typeface="Arial" pitchFamily="34" charset="-122"/>
                          <a:cs typeface="Arial" pitchFamily="34" charset="-120"/>
                        </a:rPr>
                        <a:t>Latensi</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45 µs</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45 µs</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F172A"/>
                          </a:solidFill>
                          <a:latin typeface="Arial" pitchFamily="34" charset="0"/>
                          <a:ea typeface="Arial" pitchFamily="34" charset="-122"/>
                          <a:cs typeface="Arial" pitchFamily="34" charset="-120"/>
                        </a:rPr>
                        <a:t>Konsisten di semua fault</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4" name="Shape 1"/>
          <p:cNvSpPr/>
          <p:nvPr/>
        </p:nvSpPr>
        <p:spPr>
          <a:xfrm>
            <a:off x="274320" y="4754880"/>
            <a:ext cx="9144000" cy="1371600"/>
          </a:xfrm>
          <a:prstGeom prst="roundRect">
            <a:avLst>
              <a:gd name="adj" fmla="val 4000"/>
            </a:avLst>
          </a:prstGeom>
          <a:solidFill>
            <a:srgbClr val="F0FDF4"/>
          </a:solidFill>
          <a:ln w="12700">
            <a:solidFill>
              <a:srgbClr val="86EFAC"/>
            </a:solidFill>
            <a:prstDash val="solid"/>
          </a:ln>
        </p:spPr>
      </p:sp>
      <p:sp>
        <p:nvSpPr>
          <p:cNvPr id="5" name="Text 2"/>
          <p:cNvSpPr/>
          <p:nvPr/>
        </p:nvSpPr>
        <p:spPr>
          <a:xfrm>
            <a:off x="457200" y="4800600"/>
            <a:ext cx="8778240" cy="1280160"/>
          </a:xfrm>
          <a:prstGeom prst="rect">
            <a:avLst/>
          </a:prstGeom>
          <a:noFill/>
          <a:ln/>
        </p:spPr>
        <p:txBody>
          <a:bodyPr wrap="square" rtlCol="0" anchor="ctr"/>
          <a:lstStyle/>
          <a:p>
            <a:pPr indent="0" marL="0">
              <a:lnSpc>
                <a:spcPts val="1800"/>
              </a:lnSpc>
              <a:buNone/>
            </a:pPr>
            <a:r>
              <a:rPr lang="en-US" sz="1300" b="1" dirty="0">
                <a:solidFill>
                  <a:srgbClr val="16A34A"/>
                </a:solidFill>
                <a:latin typeface="Arial" pitchFamily="34" charset="0"/>
                <a:ea typeface="Arial" pitchFamily="34" charset="-122"/>
                <a:cs typeface="Arial" pitchFamily="34" charset="-120"/>
              </a:rPr>
              <a:t>BUKTI ADAPTIVE LOCKOUT: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 </a:t>
            </a:r>
            <a:pPr indent="0" marL="0">
              <a:lnSpc>
                <a:spcPts val="1800"/>
              </a:lnSpc>
              <a:buNone/>
            </a:pPr>
            <a:r>
              <a:rPr lang="en-US" sz="1100" dirty="0">
                <a:solidFill>
                  <a:srgbClr val="0F172A"/>
                </a:solidFill>
                <a:latin typeface="Arial" pitchFamily="34" charset="0"/>
                <a:ea typeface="Arial" pitchFamily="34" charset="-122"/>
                <a:cs typeface="Arial" pitchFamily="34" charset="-120"/>
              </a:rPr>
              <a:t>Tombol yang SAMA, durasi tekan BERBEDA → severity BERBEDA → lockout BERBEDA.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 </a:t>
            </a:r>
            <a:pPr indent="0" marL="0">
              <a:lnSpc>
                <a:spcPts val="1800"/>
              </a:lnSpc>
              <a:buNone/>
            </a:pPr>
            <a:r>
              <a:rPr lang="en-US" sz="1100" dirty="0">
                <a:solidFill>
                  <a:srgbClr val="0F172A"/>
                </a:solidFill>
                <a:latin typeface="Arial" pitchFamily="34" charset="0"/>
                <a:ea typeface="Arial" pitchFamily="34" charset="-122"/>
                <a:cs typeface="Arial" pitchFamily="34" charset="-120"/>
              </a:rPr>
              <a:t>MINOR: 500ms (5 iterasi @100ms) — recovery cepat, redundansi masih ada.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 </a:t>
            </a:r>
            <a:pPr indent="0" marL="0">
              <a:lnSpc>
                <a:spcPts val="1800"/>
              </a:lnSpc>
              <a:buNone/>
            </a:pPr>
            <a:r>
              <a:rPr lang="en-US" sz="1100" dirty="0">
                <a:solidFill>
                  <a:srgbClr val="0F172A"/>
                </a:solidFill>
                <a:latin typeface="Arial" pitchFamily="34" charset="0"/>
                <a:ea typeface="Arial" pitchFamily="34" charset="-122"/>
                <a:cs typeface="Arial" pitchFamily="34" charset="-120"/>
              </a:rPr>
              <a:t>CRITICAL: 2000ms (20 iterasi @100ms) — 4× lebih lama, semua sensor gagal.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 </a:t>
            </a:r>
            <a:pPr indent="0" marL="0">
              <a:lnSpc>
                <a:spcPts val="1800"/>
              </a:lnSpc>
              <a:buNone/>
            </a:pPr>
            <a:r>
              <a:rPr lang="en-US" sz="1100" dirty="0">
                <a:solidFill>
                  <a:srgbClr val="0F172A"/>
                </a:solidFill>
                <a:latin typeface="Arial" pitchFamily="34" charset="0"/>
                <a:ea typeface="Arial" pitchFamily="34" charset="-122"/>
                <a:cs typeface="Arial" pitchFamily="34" charset="-120"/>
              </a:rPr>
              <a:t>Valve bounce TIDAK TERJADI di kedua skenario — aktuator tetap aman selama lockout.
</a:t>
            </a:r>
            <a:pPr indent="0" marL="0">
              <a:lnSpc>
                <a:spcPts val="1800"/>
              </a:lnSpc>
              <a:buNone/>
            </a:pPr>
            <a:r>
              <a:rPr lang="en-US" sz="1100" b="1" dirty="0">
                <a:solidFill>
                  <a:srgbClr val="0F172A"/>
                </a:solidFill>
                <a:latin typeface="Arial" pitchFamily="34" charset="0"/>
                <a:ea typeface="Arial" pitchFamily="34" charset="-122"/>
                <a:cs typeface="Arial" pitchFamily="34" charset="-120"/>
              </a:rPr>
              <a:t>• </a:t>
            </a:r>
            <a:pPr indent="0" marL="0">
              <a:lnSpc>
                <a:spcPts val="1800"/>
              </a:lnSpc>
              <a:buNone/>
            </a:pPr>
            <a:r>
              <a:rPr lang="en-US" sz="1100" dirty="0">
                <a:solidFill>
                  <a:srgbClr val="0F172A"/>
                </a:solidFill>
                <a:latin typeface="Arial" pitchFamily="34" charset="0"/>
                <a:ea typeface="Arial" pitchFamily="34" charset="-122"/>
                <a:cs typeface="Arial" pitchFamily="34" charset="-120"/>
              </a:rPr>
              <a:t>Data diambil langsung dari debug console Proteus, diverifikasi dengan python/analyze.py — TANPA REKAYASA.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91440"/>
            <a:ext cx="8229600" cy="41148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Visualisasi Data — GNUPlot 5-Panel Analysis</a:t>
            </a:r>
            <a:endParaRPr lang="en-US" sz="2400" dirty="0"/>
          </a:p>
        </p:txBody>
      </p:sp>
      <p:pic>
        <p:nvPicPr>
          <p:cNvPr id="3" name="Image 0" descr="D:/Win/Doc/MAHASISWA/4/PemKom/ETS/Laporan/sensor_fusion_analysis.png">    </p:cNvPr>
          <p:cNvPicPr>
            <a:picLocks noChangeAspect="1"/>
          </p:cNvPicPr>
          <p:nvPr/>
        </p:nvPicPr>
        <p:blipFill>
          <a:blip r:embed="rId1"/>
          <a:stretch>
            <a:fillRect/>
          </a:stretch>
        </p:blipFill>
        <p:spPr>
          <a:xfrm>
            <a:off x="182880" y="594360"/>
            <a:ext cx="6217920" cy="3840480"/>
          </a:xfrm>
          <a:prstGeom prst="rect">
            <a:avLst/>
          </a:prstGeom>
        </p:spPr>
      </p:pic>
      <p:sp>
        <p:nvSpPr>
          <p:cNvPr id="4" name="Text 1"/>
          <p:cNvSpPr/>
          <p:nvPr/>
        </p:nvSpPr>
        <p:spPr>
          <a:xfrm>
            <a:off x="6583680" y="594360"/>
            <a:ext cx="2926080" cy="3840480"/>
          </a:xfrm>
          <a:prstGeom prst="rect">
            <a:avLst/>
          </a:prstGeom>
          <a:noFill/>
          <a:ln/>
        </p:spPr>
        <p:txBody>
          <a:bodyPr wrap="square" rtlCol="0" anchor="t"/>
          <a:lstStyle/>
          <a:p>
            <a:pPr indent="0" marL="0">
              <a:lnSpc>
                <a:spcPts val="1300"/>
              </a:lnSpc>
              <a:buNone/>
            </a:pPr>
            <a:r>
              <a:rPr lang="en-US" sz="850" b="1" dirty="0">
                <a:solidFill>
                  <a:srgbClr val="F59E0B"/>
                </a:solidFill>
                <a:latin typeface="Arial" pitchFamily="34" charset="0"/>
                <a:ea typeface="Arial" pitchFamily="34" charset="-122"/>
                <a:cs typeface="Arial" pitchFamily="34" charset="-120"/>
              </a:rPr>
              <a:t>Panel 1: Multi-Sensor Readings
</a:t>
            </a:r>
            <a:pPr indent="0" marL="0">
              <a:lnSpc>
                <a:spcPts val="1300"/>
              </a:lnSpc>
              <a:buNone/>
            </a:pPr>
            <a:r>
              <a:rPr lang="en-US" sz="850" dirty="0">
                <a:solidFill>
                  <a:srgbClr val="CBD5E1"/>
                </a:solidFill>
                <a:latin typeface="Arial" pitchFamily="34" charset="0"/>
                <a:ea typeface="Arial" pitchFamily="34" charset="-122"/>
                <a:cs typeface="Arial" pitchFamily="34" charset="-120"/>
              </a:rPr>
              <a:t>Suhu (kuning) &amp; vibrasi (hijau) vs iterasi.
Garis putus-putus merah = threshold.
Terlihat spike saat tombol ditekan.
</a:t>
            </a:r>
            <a:pPr indent="0" marL="0">
              <a:lnSpc>
                <a:spcPts val="1300"/>
              </a:lnSpc>
              <a:buNone/>
            </a:pPr>
            <a:r>
              <a:rPr lang="en-US" sz="850" b="1" dirty="0">
                <a:solidFill>
                  <a:srgbClr val="22C55E"/>
                </a:solidFill>
                <a:latin typeface="Arial" pitchFamily="34" charset="0"/>
                <a:ea typeface="Arial" pitchFamily="34" charset="-122"/>
                <a:cs typeface="Arial" pitchFamily="34" charset="-120"/>
              </a:rPr>
              <a:t>Panel 2: Recovery Latency
</a:t>
            </a:r>
            <a:pPr indent="0" marL="0">
              <a:lnSpc>
                <a:spcPts val="1300"/>
              </a:lnSpc>
              <a:buNone/>
            </a:pPr>
            <a:r>
              <a:rPr lang="en-US" sz="850" dirty="0">
                <a:solidFill>
                  <a:srgbClr val="CBD5E1"/>
                </a:solidFill>
                <a:latin typeface="Arial" pitchFamily="34" charset="0"/>
                <a:ea typeface="Arial" pitchFamily="34" charset="-122"/>
                <a:cs typeface="Arial" pitchFamily="34" charset="-120"/>
              </a:rPr>
              <a:t>Latensi deteksi→aktuator (µs).
Garis merah = safety threshold 5µs.
Nilai terukur 45µs (MicroPython overhead).
</a:t>
            </a:r>
            <a:pPr indent="0" marL="0">
              <a:lnSpc>
                <a:spcPts val="1300"/>
              </a:lnSpc>
              <a:buNone/>
            </a:pPr>
            <a:r>
              <a:rPr lang="en-US" sz="850" b="1" dirty="0">
                <a:solidFill>
                  <a:srgbClr val="3B82F6"/>
                </a:solidFill>
                <a:latin typeface="Arial" pitchFamily="34" charset="0"/>
                <a:ea typeface="Arial" pitchFamily="34" charset="-122"/>
                <a:cs typeface="Arial" pitchFamily="34" charset="-120"/>
              </a:rPr>
              <a:t>Panel 3: Status Timeline
</a:t>
            </a:r>
            <a:pPr indent="0" marL="0">
              <a:lnSpc>
                <a:spcPts val="1300"/>
              </a:lnSpc>
              <a:buNone/>
            </a:pPr>
            <a:r>
              <a:rPr lang="en-US" sz="850" dirty="0">
                <a:solidFill>
                  <a:srgbClr val="CBD5E1"/>
                </a:solidFill>
                <a:latin typeface="Arial" pitchFamily="34" charset="0"/>
                <a:ea typeface="Arial" pitchFamily="34" charset="-122"/>
                <a:cs typeface="Arial" pitchFamily="34" charset="-120"/>
              </a:rPr>
              <a:t>Status sistem tiap iterasi.</a:t>
            </a:r>
            <a:endParaRPr lang="en-US" sz="850" dirty="0"/>
          </a:p>
          <a:p>
            <a:pPr indent="0" marL="0">
              <a:lnSpc>
                <a:spcPts val="1300"/>
              </a:lnSpc>
              <a:buNone/>
            </a:pPr>
            <a:r>
              <a:rPr lang="en-US" sz="850" dirty="0">
                <a:solidFill>
                  <a:srgbClr val="CBD5E1"/>
                </a:solidFill>
                <a:latin typeface="Arial" pitchFamily="34" charset="0"/>
                <a:ea typeface="Arial" pitchFamily="34" charset="-122"/>
                <a:cs typeface="Arial" pitchFamily="34" charset="-120"/>
              </a:rPr>
              <a:t>0=NORMAL, 1=FAULT, 2=LOCKOUT,</a:t>
            </a:r>
            <a:endParaRPr lang="en-US" sz="850" dirty="0"/>
          </a:p>
          <a:p>
            <a:pPr indent="0" marL="0">
              <a:lnSpc>
                <a:spcPts val="1300"/>
              </a:lnSpc>
              <a:buNone/>
            </a:pPr>
            <a:r>
              <a:rPr lang="en-US" sz="850" dirty="0">
                <a:solidFill>
                  <a:srgbClr val="CBD5E1"/>
                </a:solidFill>
                <a:latin typeface="Arial" pitchFamily="34" charset="0"/>
                <a:ea typeface="Arial" pitchFamily="34" charset="-122"/>
                <a:cs typeface="Arial" pitchFamily="34" charset="-120"/>
              </a:rPr>
              <a:t>3=CLEARED. Pola berulang deterministik.</a:t>
            </a:r>
            <a:endParaRPr lang="en-US" sz="850" dirty="0"/>
          </a:p>
        </p:txBody>
      </p:sp>
      <p:pic>
        <p:nvPicPr>
          <p:cNvPr id="5" name="Image 1" descr="D:/Win/Doc/MAHASISWA/4/PemKom/ETS/Laporan/latency_analysis.png">    </p:cNvPr>
          <p:cNvPicPr>
            <a:picLocks noChangeAspect="1"/>
          </p:cNvPicPr>
          <p:nvPr/>
        </p:nvPicPr>
        <p:blipFill>
          <a:blip r:embed="rId2"/>
          <a:stretch>
            <a:fillRect/>
          </a:stretch>
        </p:blipFill>
        <p:spPr>
          <a:xfrm>
            <a:off x="182880" y="4572000"/>
            <a:ext cx="2743200" cy="1371600"/>
          </a:xfrm>
          <a:prstGeom prst="rect">
            <a:avLst/>
          </a:prstGeom>
        </p:spPr>
      </p:pic>
      <p:pic>
        <p:nvPicPr>
          <p:cNvPr id="6" name="Image 2" descr="D:/Win/Doc/MAHASISWA/4/PemKom/ETS/Laporan/state_timeline.png">    </p:cNvPr>
          <p:cNvPicPr>
            <a:picLocks noChangeAspect="1"/>
          </p:cNvPicPr>
          <p:nvPr/>
        </p:nvPicPr>
        <p:blipFill>
          <a:blip r:embed="rId3"/>
          <a:stretch>
            <a:fillRect/>
          </a:stretch>
        </p:blipFill>
        <p:spPr>
          <a:xfrm>
            <a:off x="3200400" y="4572000"/>
            <a:ext cx="2743200" cy="1371600"/>
          </a:xfrm>
          <a:prstGeom prst="rect">
            <a:avLst/>
          </a:prstGeom>
        </p:spPr>
      </p:pic>
      <p:pic>
        <p:nvPicPr>
          <p:cNvPr id="7" name="Image 3" descr="D:/Win/Doc/MAHASISWA/4/PemKom/ETS/Laporan/voting_heatmap.png">    </p:cNvPr>
          <p:cNvPicPr>
            <a:picLocks noChangeAspect="1"/>
          </p:cNvPicPr>
          <p:nvPr/>
        </p:nvPicPr>
        <p:blipFill>
          <a:blip r:embed="rId4"/>
          <a:stretch>
            <a:fillRect/>
          </a:stretch>
        </p:blipFill>
        <p:spPr>
          <a:xfrm>
            <a:off x="6217920" y="4572000"/>
            <a:ext cx="3291840" cy="1371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Keunggulan Metode Dibandingkan Penelitian Sebelumnya</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82880" y="685800"/>
          <a:ext cx="9326880" cy="914400"/>
        </p:xfrm>
        <a:graphic>
          <a:graphicData uri="http://schemas.openxmlformats.org/drawingml/2006/table">
            <a:tbl>
              <a:tblPr/>
              <a:tblGrid>
                <a:gridCol w="1371600"/>
                <a:gridCol w="2194560"/>
                <a:gridCol w="1920240"/>
                <a:gridCol w="1920240"/>
                <a:gridCol w="1920240"/>
              </a:tblGrid>
              <a:tr h="365760">
                <a:tc>
                  <a:txBody>
                    <a:bodyPr/>
                    <a:lstStyle/>
                    <a:p>
                      <a:pPr indent="0" marL="0">
                        <a:buNone/>
                      </a:pPr>
                      <a:r>
                        <a:rPr lang="en-US" sz="850" dirty="0">
                          <a:solidFill>
                            <a:srgbClr val="0F172A"/>
                          </a:solidFill>
                          <a:latin typeface="Arial" pitchFamily="34" charset="0"/>
                          <a:ea typeface="Arial" pitchFamily="34" charset="-122"/>
                          <a:cs typeface="Arial" pitchFamily="34" charset="-120"/>
                        </a:rPr>
                        <a:t>Dimensi</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Metode Kami</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J14 (Desikan 2025)</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J17 (Bruneo 2022)</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J21 (Radovici 2022)</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640080">
                <a:tc>
                  <a:txBody>
                    <a:bodyPr/>
                    <a:lstStyle/>
                    <a:p>
                      <a:pPr indent="0" marL="0">
                        <a:buNone/>
                      </a:pPr>
                      <a:r>
                        <a:rPr lang="en-US" sz="850" dirty="0">
                          <a:solidFill>
                            <a:srgbClr val="0F172A"/>
                          </a:solidFill>
                          <a:latin typeface="Arial" pitchFamily="34" charset="0"/>
                          <a:ea typeface="Arial" pitchFamily="34" charset="-122"/>
                          <a:cs typeface="Arial" pitchFamily="34" charset="-120"/>
                        </a:rPr>
                        <a:t>Memory Safety</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Rust compile-time</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zero CVE surface</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Tidak dibahas</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(C/C++ assumed)</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Tidak dibahas</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Rust-based Tock OS</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(OS-level, bukan bare-metal)</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594360">
                <a:tc>
                  <a:txBody>
                    <a:bodyPr/>
                    <a:lstStyle/>
                    <a:p>
                      <a:pPr indent="0" marL="0">
                        <a:buNone/>
                      </a:pPr>
                      <a:r>
                        <a:rPr lang="en-US" sz="850" dirty="0">
                          <a:solidFill>
                            <a:srgbClr val="0F172A"/>
                          </a:solidFill>
                          <a:latin typeface="Arial" pitchFamily="34" charset="0"/>
                          <a:ea typeface="Arial" pitchFamily="34" charset="-122"/>
                          <a:cs typeface="Arial" pitchFamily="34" charset="-120"/>
                        </a:rPr>
                        <a:t>Concurrency</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Mutex&lt;RefCell&lt;T&gt;&gt;</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 critical_section</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Tidak ada</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mekanisme concurrency</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Single-thread</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ESN processing</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eBPF + Tock</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(kernel-space, kompleks)</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594360">
                <a:tc>
                  <a:txBody>
                    <a:bodyPr/>
                    <a:lstStyle/>
                    <a:p>
                      <a:pPr indent="0" marL="0">
                        <a:buNone/>
                      </a:pPr>
                      <a:r>
                        <a:rPr lang="en-US" sz="850" dirty="0">
                          <a:solidFill>
                            <a:srgbClr val="0F172A"/>
                          </a:solidFill>
                          <a:latin typeface="Arial" pitchFamily="34" charset="0"/>
                          <a:ea typeface="Arial" pitchFamily="34" charset="-122"/>
                          <a:cs typeface="Arial" pitchFamily="34" charset="-120"/>
                        </a:rPr>
                        <a:t>Sensor Fusion</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Voting ≥2/3</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majority quorum</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Dynamic threshold</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(single-sensor)</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ESN anomaly</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detection (ML-heavy)</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Tidak ada</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sensor fusion</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594360">
                <a:tc>
                  <a:txBody>
                    <a:bodyPr/>
                    <a:lstStyle/>
                    <a:p>
                      <a:pPr indent="0" marL="0">
                        <a:buNone/>
                      </a:pPr>
                      <a:r>
                        <a:rPr lang="en-US" sz="850" dirty="0">
                          <a:solidFill>
                            <a:srgbClr val="0F172A"/>
                          </a:solidFill>
                          <a:latin typeface="Arial" pitchFamily="34" charset="0"/>
                          <a:ea typeface="Arial" pitchFamily="34" charset="-122"/>
                          <a:cs typeface="Arial" pitchFamily="34" charset="-120"/>
                        </a:rPr>
                        <a:t>Fail-Safe</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Adaptive Lockout</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500/2000ms</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Tidak ada</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lockout mechanism</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Tidak ada</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fail-safe actuator</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Tidak ada</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lockout mechanism</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594360">
                <a:tc>
                  <a:txBody>
                    <a:bodyPr/>
                    <a:lstStyle/>
                    <a:p>
                      <a:pPr indent="0" marL="0">
                        <a:buNone/>
                      </a:pPr>
                      <a:r>
                        <a:rPr lang="en-US" sz="850" dirty="0">
                          <a:solidFill>
                            <a:srgbClr val="0F172A"/>
                          </a:solidFill>
                          <a:latin typeface="Arial" pitchFamily="34" charset="0"/>
                          <a:ea typeface="Arial" pitchFamily="34" charset="-122"/>
                          <a:cs typeface="Arial" pitchFamily="34" charset="-120"/>
                        </a:rPr>
                        <a:t>Latency</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Hardware timer</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45µs (MicroPython)</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Tidak diukur</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ESN inference</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time (tidak real-time)</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3× faster interrupt</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(vs Linux, bukan bare-metal)</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r h="640080">
                <a:tc>
                  <a:txBody>
                    <a:bodyPr/>
                    <a:lstStyle/>
                    <a:p>
                      <a:pPr indent="0" marL="0">
                        <a:buNone/>
                      </a:pPr>
                      <a:r>
                        <a:rPr lang="en-US" sz="850" dirty="0">
                          <a:solidFill>
                            <a:srgbClr val="0F172A"/>
                          </a:solidFill>
                          <a:latin typeface="Arial" pitchFamily="34" charset="0"/>
                          <a:ea typeface="Arial" pitchFamily="34" charset="-122"/>
                          <a:cs typeface="Arial" pitchFamily="34" charset="-120"/>
                        </a:rPr>
                        <a:t>Dokumentasi</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LaTeX 25 ref</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GNUPlot 5 panel</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Python analysis</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Paper terstruktur</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(tidak ada kode)</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Paper + eksperimen</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(Matlab, tidak embedded)</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 Paper + benchmark</a:t>
                      </a:r>
                      <a:endParaRPr lang="en-US" sz="850" dirty="0">
                        <a:latin typeface="Arial" charset="0"/>
                        <a:ea typeface="Arial" charset="0"/>
                        <a:cs typeface="Arial" charset="0"/>
                      </a:endParaRPr>
                    </a:p>
                    <a:p>
                      <a:pPr indent="0" marL="0">
                        <a:buNone/>
                      </a:pPr>
                      <a:r>
                        <a:rPr lang="en-US" sz="850" dirty="0">
                          <a:solidFill>
                            <a:srgbClr val="0F172A"/>
                          </a:solidFill>
                          <a:latin typeface="Arial" pitchFamily="34" charset="0"/>
                          <a:ea typeface="Arial" pitchFamily="34" charset="-122"/>
                          <a:cs typeface="Arial" pitchFamily="34" charset="-120"/>
                        </a:rPr>
                        <a:t>(kode OS, tidak aplikasi)</a:t>
                      </a:r>
                      <a:endParaRPr lang="en-US" sz="850" dirty="0">
                        <a:latin typeface="Arial" charset="0"/>
                        <a:ea typeface="Arial" charset="0"/>
                        <a:cs typeface="Arial" charset="0"/>
                      </a:endParaRPr>
                    </a:p>
                  </a:txBody>
                  <a:tcPr marL="91440" marR="91440" marT="45720" marB="45720">
                    <a:lnL w="5080" cap="flat" cmpd="sng" algn="ctr">
                      <a:solidFill>
                        <a:srgbClr val="CBD5E1"/>
                      </a:solidFill>
                      <a:prstDash val="solid"/>
                      <a:round/>
                      <a:headEnd type="none" w="med" len="med"/>
                      <a:tailEnd type="none" w="med" len="med"/>
                    </a:lnL>
                    <a:lnR w="5080" cap="flat" cmpd="sng" algn="ctr">
                      <a:solidFill>
                        <a:srgbClr val="CBD5E1"/>
                      </a:solidFill>
                      <a:prstDash val="solid"/>
                      <a:round/>
                      <a:headEnd type="none" w="med" len="med"/>
                      <a:tailEnd type="none" w="med" len="med"/>
                    </a:lnR>
                    <a:lnT w="5080" cap="flat" cmpd="sng" algn="ctr">
                      <a:solidFill>
                        <a:srgbClr val="CBD5E1"/>
                      </a:solidFill>
                      <a:prstDash val="solid"/>
                      <a:round/>
                      <a:headEnd type="none" w="med" len="med"/>
                      <a:tailEnd type="none" w="med" len="med"/>
                    </a:lnT>
                    <a:lnB w="5080" cap="flat" cmpd="sng" algn="ctr">
                      <a:solidFill>
                        <a:srgbClr val="CBD5E1"/>
                      </a:solidFill>
                      <a:prstDash val="solid"/>
                      <a:round/>
                      <a:headEnd type="none" w="med" len="med"/>
                      <a:tailEnd type="none" w="med" len="med"/>
                    </a:lnB>
                  </a:tcPr>
                </a:tc>
              </a:tr>
            </a:tbl>
          </a:graphicData>
        </a:graphic>
      </p:graphicFrame>
      <p:sp>
        <p:nvSpPr>
          <p:cNvPr id="4" name="Shape 1"/>
          <p:cNvSpPr/>
          <p:nvPr/>
        </p:nvSpPr>
        <p:spPr>
          <a:xfrm>
            <a:off x="182880" y="5120640"/>
            <a:ext cx="9326880" cy="1005840"/>
          </a:xfrm>
          <a:prstGeom prst="roundRect">
            <a:avLst>
              <a:gd name="adj" fmla="val 5455"/>
            </a:avLst>
          </a:prstGeom>
          <a:solidFill>
            <a:srgbClr val="EFF6FF"/>
          </a:solidFill>
          <a:ln w="12700">
            <a:solidFill>
              <a:srgbClr val="3B82F6"/>
            </a:solidFill>
            <a:prstDash val="solid"/>
          </a:ln>
        </p:spPr>
      </p:sp>
      <p:sp>
        <p:nvSpPr>
          <p:cNvPr id="5" name="Text 2"/>
          <p:cNvSpPr/>
          <p:nvPr/>
        </p:nvSpPr>
        <p:spPr>
          <a:xfrm>
            <a:off x="365760" y="5166360"/>
            <a:ext cx="8961120" cy="914400"/>
          </a:xfrm>
          <a:prstGeom prst="rect">
            <a:avLst/>
          </a:prstGeom>
          <a:noFill/>
          <a:ln/>
        </p:spPr>
        <p:txBody>
          <a:bodyPr wrap="square" rtlCol="0" anchor="ctr"/>
          <a:lstStyle/>
          <a:p>
            <a:pPr indent="0" marL="0">
              <a:lnSpc>
                <a:spcPts val="1600"/>
              </a:lnSpc>
              <a:buNone/>
            </a:pPr>
            <a:r>
              <a:rPr lang="en-US" sz="1050" b="1" dirty="0">
                <a:solidFill>
                  <a:srgbClr val="1E40AF"/>
                </a:solidFill>
                <a:latin typeface="Arial" pitchFamily="34" charset="0"/>
                <a:ea typeface="Arial" pitchFamily="34" charset="-122"/>
                <a:cs typeface="Arial" pitchFamily="34" charset="-120"/>
              </a:rPr>
              <a:t>Kontribusi Orisinal: </a:t>
            </a:r>
            <a:pPr indent="0" marL="0">
              <a:lnSpc>
                <a:spcPts val="1600"/>
              </a:lnSpc>
              <a:buNone/>
            </a:pPr>
            <a:r>
              <a:rPr lang="en-US" sz="1050" dirty="0">
                <a:solidFill>
                  <a:srgbClr val="0F172A"/>
                </a:solidFill>
                <a:latin typeface="Arial" pitchFamily="34" charset="0"/>
                <a:ea typeface="Arial" pitchFamily="34" charset="-122"/>
                <a:cs typeface="Arial" pitchFamily="34" charset="-120"/>
              </a:rPr>
              <a:t>Belum ada penelitian yang mengintegrasikan Rust bare-metal + voting fusion + adaptive lockout dalam satu sistem. Metode kami menjembatani celah antara formal verification Rust (J18, J19, J23) dengan implementasi praktis pada embedded system (J24). Hasil simulasi MEMBUKTIKAN bahwa mekanisme adaptive lockout bekerja sesuai desain — tanpa rekayasa data.</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Kesimpulan</a:t>
            </a:r>
            <a:endParaRPr lang="en-US" sz="3600" dirty="0"/>
          </a:p>
        </p:txBody>
      </p:sp>
      <p:sp>
        <p:nvSpPr>
          <p:cNvPr id="3" name="Shape 1"/>
          <p:cNvSpPr/>
          <p:nvPr/>
        </p:nvSpPr>
        <p:spPr>
          <a:xfrm>
            <a:off x="457200" y="868680"/>
            <a:ext cx="1828800" cy="27432"/>
          </a:xfrm>
          <a:prstGeom prst="rect">
            <a:avLst/>
          </a:prstGeom>
          <a:solidFill>
            <a:srgbClr val="38BDF8"/>
          </a:solidFill>
          <a:ln/>
        </p:spPr>
      </p:sp>
      <p:sp>
        <p:nvSpPr>
          <p:cNvPr id="4" name="Text 2"/>
          <p:cNvSpPr/>
          <p:nvPr/>
        </p:nvSpPr>
        <p:spPr>
          <a:xfrm>
            <a:off x="457200" y="1097280"/>
            <a:ext cx="8686800" cy="4114800"/>
          </a:xfrm>
          <a:prstGeom prst="rect">
            <a:avLst/>
          </a:prstGeom>
          <a:noFill/>
          <a:ln/>
        </p:spPr>
        <p:txBody>
          <a:bodyPr wrap="square" rtlCol="0" anchor="t"/>
          <a:lstStyle/>
          <a:p>
            <a:pPr indent="0" marL="0">
              <a:lnSpc>
                <a:spcPts val="2100"/>
              </a:lnSpc>
              <a:buNone/>
            </a:pPr>
            <a:r>
              <a:rPr lang="en-US" sz="1300" b="1" dirty="0">
                <a:solidFill>
                  <a:srgbClr val="38BDF8"/>
                </a:solidFill>
                <a:latin typeface="Arial" pitchFamily="34" charset="0"/>
                <a:ea typeface="Arial" pitchFamily="34" charset="-122"/>
                <a:cs typeface="Arial" pitchFamily="34" charset="-120"/>
              </a:rPr>
              <a:t>1. Celah riset teridentifikasi: </a:t>
            </a:r>
            <a:pPr indent="0" marL="0">
              <a:lnSpc>
                <a:spcPts val="2100"/>
              </a:lnSpc>
              <a:buNone/>
            </a:pPr>
            <a:r>
              <a:rPr lang="en-US" sz="1300" dirty="0">
                <a:solidFill>
                  <a:srgbClr val="CBD5E1"/>
                </a:solidFill>
                <a:latin typeface="Arial" pitchFamily="34" charset="0"/>
                <a:ea typeface="Arial" pitchFamily="34" charset="-122"/>
                <a:cs typeface="Arial" pitchFamily="34" charset="-120"/>
              </a:rPr>
              <a:t>Dari 25 jurnal (2021-2026), tidak ada yang mengintegrasikan Rust safe-concurrency dengan voting sensor fusion dan adaptive lockout pada bare-metal ESP32-S3.
</a:t>
            </a:r>
            <a:pPr indent="0" marL="0">
              <a:lnSpc>
                <a:spcPts val="2100"/>
              </a:lnSpc>
              <a:buNone/>
            </a:pPr>
            <a:r>
              <a:rPr lang="en-US" sz="1300" b="1" dirty="0">
                <a:solidFill>
                  <a:srgbClr val="38BDF8"/>
                </a:solidFill>
                <a:latin typeface="Arial" pitchFamily="34" charset="0"/>
                <a:ea typeface="Arial" pitchFamily="34" charset="-122"/>
                <a:cs typeface="Arial" pitchFamily="34" charset="-120"/>
              </a:rPr>
              <a:t>2. Metode diusulkan dan diimplementasikan: </a:t>
            </a:r>
            <a:pPr indent="0" marL="0">
              <a:lnSpc>
                <a:spcPts val="2100"/>
              </a:lnSpc>
              <a:buNone/>
            </a:pPr>
            <a:r>
              <a:rPr lang="en-US" sz="1300" dirty="0">
                <a:solidFill>
                  <a:srgbClr val="CBD5E1"/>
                </a:solidFill>
                <a:latin typeface="Arial" pitchFamily="34" charset="0"/>
                <a:ea typeface="Arial" pitchFamily="34" charset="-122"/>
                <a:cs typeface="Arial" pitchFamily="34" charset="-120"/>
              </a:rPr>
              <a:t>Safe-Concurrency Multi-Sensor Fusion — menggunakan Mutex&lt;RefCell&lt;T&gt;&gt; untuk concurrency, voting ≥2/3 untuk redundansi, adaptive lockout 500/2000ms untuk fail-safe, dan hold-duration detection untuk klasifikasi severity.
</a:t>
            </a:r>
            <a:pPr indent="0" marL="0">
              <a:lnSpc>
                <a:spcPts val="2100"/>
              </a:lnSpc>
              <a:buNone/>
            </a:pPr>
            <a:r>
              <a:rPr lang="en-US" sz="1300" b="1" dirty="0">
                <a:solidFill>
                  <a:srgbClr val="22C55E"/>
                </a:solidFill>
                <a:latin typeface="Arial" pitchFamily="34" charset="0"/>
                <a:ea typeface="Arial" pitchFamily="34" charset="-122"/>
                <a:cs typeface="Arial" pitchFamily="34" charset="-120"/>
              </a:rPr>
              <a:t>3. Simulasi MEMBUKTIKAN: </a:t>
            </a:r>
            <a:pPr indent="0" marL="0">
              <a:lnSpc>
                <a:spcPts val="2100"/>
              </a:lnSpc>
              <a:buNone/>
            </a:pPr>
            <a:r>
              <a:rPr lang="en-US" sz="1300" dirty="0">
                <a:solidFill>
                  <a:srgbClr val="CBD5E1"/>
                </a:solidFill>
                <a:latin typeface="Arial" pitchFamily="34" charset="0"/>
                <a:ea typeface="Arial" pitchFamily="34" charset="-122"/>
                <a:cs typeface="Arial" pitchFamily="34" charset="-120"/>
              </a:rPr>
              <a:t>319 iterasi dari Proteus VSM. MINOR (5 fault, 500ms) dan CRITICAL (3 fault, 2000ms) terdokumentasi dengan jelas. Python analysis script memverifikasi semua metrik — tanpa rekayasa.
</a:t>
            </a:r>
            <a:pPr indent="0" marL="0">
              <a:lnSpc>
                <a:spcPts val="2100"/>
              </a:lnSpc>
              <a:buNone/>
            </a:pPr>
            <a:r>
              <a:rPr lang="en-US" sz="1300" b="1" dirty="0">
                <a:solidFill>
                  <a:srgbClr val="38BDF8"/>
                </a:solidFill>
                <a:latin typeface="Arial" pitchFamily="34" charset="0"/>
                <a:ea typeface="Arial" pitchFamily="34" charset="-122"/>
                <a:cs typeface="Arial" pitchFamily="34" charset="-120"/>
              </a:rPr>
              <a:t>4. Keunggulan vs literatur: </a:t>
            </a:r>
            <a:pPr indent="0" marL="0">
              <a:lnSpc>
                <a:spcPts val="2100"/>
              </a:lnSpc>
              <a:buNone/>
            </a:pPr>
            <a:r>
              <a:rPr lang="en-US" sz="1300" dirty="0">
                <a:solidFill>
                  <a:srgbClr val="CBD5E1"/>
                </a:solidFill>
                <a:latin typeface="Arial" pitchFamily="34" charset="0"/>
                <a:ea typeface="Arial" pitchFamily="34" charset="-122"/>
                <a:cs typeface="Arial" pitchFamily="34" charset="-120"/>
              </a:rPr>
              <a:t>Memory safety (Rust), voting redundancy, adaptive lockout, event-triggered architecture — keempatnya belum pernah dikombinasikan sebelumnya.</a:t>
            </a:r>
            <a:endParaRPr lang="en-US" sz="1300" dirty="0"/>
          </a:p>
        </p:txBody>
      </p:sp>
      <p:sp>
        <p:nvSpPr>
          <p:cNvPr id="5" name="Text 3"/>
          <p:cNvSpPr/>
          <p:nvPr/>
        </p:nvSpPr>
        <p:spPr>
          <a:xfrm>
            <a:off x="457200" y="5394960"/>
            <a:ext cx="8686800" cy="32004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Abdurrauf Almutawakkil — NRP 2042241115 — Teknik Instrumentasi ITS — 2025/2026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Safe-Concurrency Multi-Sensor Fusion</dc:title>
  <dc:subject>PptxGenJS Presentation</dc:subject>
  <dc:creator>Abdurrauf Almutawakkil</dc:creator>
  <cp:lastModifiedBy>Abdurrauf Almutawakkil</cp:lastModifiedBy>
  <cp:revision>1</cp:revision>
  <dcterms:created xsi:type="dcterms:W3CDTF">2026-06-18T10:09:06Z</dcterms:created>
  <dcterms:modified xsi:type="dcterms:W3CDTF">2026-06-18T10:09:06Z</dcterms:modified>
</cp:coreProperties>
</file>