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Safe-Concurrency untuk Multi-Sensor Fusion</a:t>
            </a:r>
            <a:endParaRPr lang="en-US" sz="36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Sistem Industrial Safety-Critical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3383280"/>
            <a:ext cx="274320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3657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ESP32-S3 Bare-Metal Rust  |  Voting ≥2/3  |  Adaptive Lockout 500/2000ms
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Evaluasi Tengah Semester — Pemrograman Kontroller
</a:t>
            </a:r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Abdurrauf Almutawakkil — NRP 2042241115 — Teknik Instrumentasi ITS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Dosen Pengampu: Ahmad Radhy, S.Si., M.Si.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 — Apa yang Sudah Diteliti &amp; Di Mana Celahnya?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Berdasarkan 25 jurnal Scopus/WoS (2021–2026), kami mengidentifikasi 5 area future work yang belum terselesaikan: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1664208" cy="4389120"/>
          </a:xfrm>
          <a:prstGeom prst="roundRect">
            <a:avLst>
              <a:gd name="adj" fmla="val 329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34440"/>
            <a:ext cx="1481328" cy="36576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234440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FW12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HW-SW Co-Design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Fault-Tolerant Fusion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Matos et al. (2024) — Survey kegagalan sensor pada autonomous vehicles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15568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278892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Membahas taksonomi kegagalan sensor di AV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Mengusulkan fault-tolerant fusion hw-sw co-design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Kelemahan: Hanya usulan konseptual, belum ada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implementasi nyata di embedded MCU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Tidak ada mekanisme lockout atau voting redundancy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057400" y="1143000"/>
            <a:ext cx="1664208" cy="4389120"/>
          </a:xfrm>
          <a:prstGeom prst="roundRect">
            <a:avLst>
              <a:gd name="adj" fmla="val 329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48840" y="1234440"/>
            <a:ext cx="1481328" cy="365760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1234440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FW17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48840" y="169164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Embedded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 Detection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148840" y="219456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Bruneo &amp; De Vita (2022) — Echo State Networks untuk fault detection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331720" y="2697480"/>
            <a:ext cx="1115568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5"/>
          <p:cNvSpPr/>
          <p:nvPr/>
        </p:nvSpPr>
        <p:spPr>
          <a:xfrm>
            <a:off x="2148840" y="278892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Menggunakan Echo State Network (ESN) untuk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deteksi fault di edge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Future work: real-time embedded deployment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pada mikrokontroler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Kelemahan: ESN terlalu berat untuk bare-metal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MCU, butuh resource komputasi besar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Belum ada voting-based sensor fusion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840480" y="1143000"/>
            <a:ext cx="1664208" cy="4389120"/>
          </a:xfrm>
          <a:prstGeom prst="roundRect">
            <a:avLst>
              <a:gd name="adj" fmla="val 329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31920" y="1234440"/>
            <a:ext cx="1481328" cy="365760"/>
          </a:xfrm>
          <a:prstGeom prst="roundRect">
            <a:avLst>
              <a:gd name="adj" fmla="val 10000"/>
            </a:avLst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931920" y="1234440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FW18/23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931920" y="169164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Memory Safety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Unsafe Reduction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931920" y="219456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 et al. (2021) — 186 CVE memory-safety di Rust</a:t>
            </a:r>
            <a:endParaRPr lang="en-US" sz="700" dirty="0"/>
          </a:p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Jiang et al. (2023) — Thetis static analysis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114800" y="2697480"/>
            <a:ext cx="1115568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3931920" y="278892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Mengidentifikasi 5 pola bug memory-safety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 Rust unsafe code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Thetis mengurangi unsafe code surface area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Kelemahan: Belum diaplikasikan ke sistem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embedded real-time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Tidak ada implementasi sensor fusion dengan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Rust safety guarantees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623560" y="1143000"/>
            <a:ext cx="1664208" cy="4389120"/>
          </a:xfrm>
          <a:prstGeom prst="roundRect">
            <a:avLst>
              <a:gd name="adj" fmla="val 329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715000" y="1234440"/>
            <a:ext cx="1481328" cy="365760"/>
          </a:xfrm>
          <a:prstGeom prst="roundRect">
            <a:avLst>
              <a:gd name="adj" fmla="val 10000"/>
            </a:avLst>
          </a:prstGeom>
          <a:solidFill>
            <a:srgbClr val="A855F7"/>
          </a:solidFill>
          <a:ln/>
        </p:spPr>
      </p:sp>
      <p:sp>
        <p:nvSpPr>
          <p:cNvPr id="27" name="Text 25"/>
          <p:cNvSpPr/>
          <p:nvPr/>
        </p:nvSpPr>
        <p:spPr>
          <a:xfrm>
            <a:off x="5715000" y="1234440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FW21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15000" y="169164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Low-Latency Rust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OS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715000" y="219456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Radovici et al. (2022) — eBPF di Tock kernel, 3× faster interrupt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897880" y="2697480"/>
            <a:ext cx="1115568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Text 29"/>
          <p:cNvSpPr/>
          <p:nvPr/>
        </p:nvSpPr>
        <p:spPr>
          <a:xfrm>
            <a:off x="5715000" y="278892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Mencapai latensi interrupt 3× lebih cepat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dengan Rust+eBPF di Tock kernel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Future work: mengurangi overhead array iteration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Kelemahan: Fokus pada performa OS, bukan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pada fault detection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Tidak mengimplementasikan mekanisme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sensor fusion atau fail-safe actuator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06640" y="1143000"/>
            <a:ext cx="1664208" cy="4389120"/>
          </a:xfrm>
          <a:prstGeom prst="roundRect">
            <a:avLst>
              <a:gd name="adj" fmla="val 329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98080" y="1234440"/>
            <a:ext cx="1481328" cy="365760"/>
          </a:xfrm>
          <a:prstGeom prst="roundRect">
            <a:avLst>
              <a:gd name="adj" fmla="val 10000"/>
            </a:avLst>
          </a:prstGeom>
          <a:solidFill>
            <a:srgbClr val="22C55E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1234440"/>
            <a:ext cx="14813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FW24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498080" y="169164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Performance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C/C++ pada ESP32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498080" y="2194560"/>
            <a:ext cx="1481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Plauska &amp; Liutkevičius (2023) — Benchmark Rust/C/MicroPython/TinyGo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680960" y="2697480"/>
            <a:ext cx="1115568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8" name="Text 36"/>
          <p:cNvSpPr/>
          <p:nvPr/>
        </p:nvSpPr>
        <p:spPr>
          <a:xfrm>
            <a:off x="7498080" y="278892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Membuktikan Rust memiliki performa kompetitif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vs C di ESP32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Future work: benchmark multi-threaded dan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async workloads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Kelemahan: Hanya benchmark sintetis, bukan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aplikasi safety-critical nyata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Tidak menguji Rust dalam konteks sensor</a:t>
            </a:r>
            <a:endParaRPr lang="en-US" sz="7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fusion atau fault tolerance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74320" y="5669280"/>
            <a:ext cx="9052560" cy="594360"/>
          </a:xfrm>
          <a:prstGeom prst="roundRect">
            <a:avLst>
              <a:gd name="adj" fmla="val 7692"/>
            </a:avLst>
          </a:prstGeom>
          <a:solidFill>
            <a:srgbClr val="FEF2F2"/>
          </a:solidFill>
          <a:ln w="10160">
            <a:solidFill>
              <a:srgbClr val="FECAC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57150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penelitian yang menggabungkan Rust safe-concurrency + voting fusion + adaptive lockout + event-triggered pada bare-metal ESP32-S3.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kami mengisi celah ini secara terintegrasi.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Itu Rust Safe-Concurrency &amp; Mengapa Penting?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868680"/>
            <a:ext cx="4572000" cy="5212080"/>
          </a:xfrm>
          <a:prstGeom prst="roundRect">
            <a:avLst>
              <a:gd name="adj" fmla="val 16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60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Konsep Safe-Concurrency dalam Rust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adalah bahasa pemrograman sistem yang menjamin memory safety dan thread safety TANPA garbage collector. Ini dicapai melalui sistem OWNERSHIP dan BORROWING yang diperiksa saat kompilasi.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Rules (3 aturan utama):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Setiap nilai di Rust memiliki SATU pemilik (owner).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Hanya boleh ada SATU mutable reference ATAU
    beberapa immutable reference — tidak bisa keduanya.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References harus selalu valid (tidak boleh dangling).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yang dicegah oleh sistem ini?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race — dua thread mengakses data bersamaan,
   salah satunya menulis → TIDAK MUNGKIN di Rust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Use-after-free — memori sudah dibebaskan tapi
   masih diakses → TIDAK MUNGKIN di Rust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Double-free — memori dibebaskan dua kali
   → TIDAK MUNGKIN di Rust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Null pointer dereference — Rust tidak punya null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dicek saat KOMPILASI, bukan saat runtime.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perlu garbage collector, tidak perlu runtime overhead.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29200" y="868680"/>
            <a:ext cx="4572000" cy="5212080"/>
          </a:xfrm>
          <a:prstGeom prst="roundRect">
            <a:avLst>
              <a:gd name="adj" fmla="val 16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960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 dalam Sistem Kami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212080" y="137160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safe-concurrency diterapkan di ESP32-S3: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Mutex&lt;RefCell&lt;T&gt;&gt; + critical_section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SystemState (suhu, tekanan, vibrasi, fault, lockout)
   disimpan dalam Mutex&lt;RefCell&lt;SystemState&gt;&gt;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Setiap akses ke shared state dilakukan di dalam
   blok critical_section::with()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Saat critical section aktif, SEMUA interrupt
   dinonaktifkan → akses bersifat atomik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Compiler Rust MEMASTIKAN tidak ada data race
   — jika ada potensi race, kode tidak akan compile.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dengan C/C++ (embedded konvensional):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C/C++: programmer harus manual lock/unlock mutex.
   Salah urutan → deadlock. Lupa unlock → hang.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Rust: compiler yang menjamin lock/unlock benar.
   Salah? Kode tidak akan compile.
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C/C++: 186 CVE memory-safety ditemukan (Xu 2021).
   Rust: zero CVE untuk safe code.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sistem safety-critical seperti valve kontrol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industri, jaminan ini KRUSIAL — kesalahan software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 berakibat fatal pada keselamatan manusia.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yang Diusulkan — Safe-Concurrency Multi-Sensor Fusion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membaca 3 sensor (suhu, tekanan, vibrasi) → voting ≥2/3 → adaptive lockout → aktuator fail-safe. ESP32-S3 bare-metal Rust tanpa unsafe code.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438912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280160"/>
            <a:ext cx="45720" cy="1920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Concurrency Model: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Mutex&lt;RefCell&lt;T&gt;&gt;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state ketiga sensor dilindungi Mutex&lt;RefCell&lt;T&gt;&gt; dengan critical_section. Setiap akses state bersifat atomik — interrupt dinonaktifkan sementara. Model ini menjamin data-race-free TANPA unsafe code. Berbeda dengan C/C++ yang mengandalkan mutex manual (rentan deadlock, priority inversion), Rust menjamin keamanan di waktu kompilasi.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38912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280160"/>
            <a:ext cx="45720" cy="19202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280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 Redundansi: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≥2 dari 3 Sensor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120640" y="201168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evaluate_sensor_redundancy() menghitung jumlah sensor anomali. Threshold: suhu &gt;80°C, tekanan &lt;900 atau &gt;1200 hPa, vibrasi &gt;500. Jika ≥2 anomali → FAULT. Toleransi 1 sensor gagal — menghindari false positive. Berbeda dengan single-sensor yang langsung fault tanpa verifikasi silang.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3474720"/>
            <a:ext cx="438912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3566160"/>
            <a:ext cx="45720" cy="19202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566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Lockout: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500ms / 2000ms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tingkat severity. MINOR (2/3 sensor): lockout 500ms — redundansi masih ada. CRITICAL (3/3): lockout 2000ms — semua sensor gagal, butuh waktu lebih lama. Selama lockout, aktuator TETAP aman meskipun sensor normal → mencegah valve bounce.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3474720"/>
            <a:ext cx="4389120" cy="2103120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0" y="3566160"/>
            <a:ext cx="45720" cy="192024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35661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Hold-Duration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20640" y="429768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Tombol GPIO15 + pull-down 10kΩ. Sticky latch — begitu tombol HIGH, latch TRUE sampai fault terproses. Counter hold_count melacak durasi tekan. &lt;5 detik = MINOR (2 sensor). ≥5 detik = CRITICAL (3 sensor + tekanan 0 hPa). Mengatasi timing Proteus (klik mouse milidetik).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Blok Sistem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Aliran data: sensor → latch → voting → lockout → aktuator → logging</a:t>
            </a:r>
            <a:endParaRPr lang="en-US" sz="1100" dirty="0"/>
          </a:p>
        </p:txBody>
      </p:sp>
      <p:pic>
        <p:nvPicPr>
          <p:cNvPr id="4" name="Image 0" descr="D:/Win/Doc/MAHASISWA/4/PemKom/ETS/Laporan/DB1.draw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896112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9377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membaca diagram: 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sensor (kiri) → Sticky Latch + Hold Counter → Sensor Injection → Voting ≥2/3 → Adaptive Lockout → LED Output (kanan) → CSV Logging → Auto-Recovery
</a:t>
            </a:r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machine: NORMAL → FAULT_DETECTED → LOCKOUT (500/2000ms) → LOCKOUT_CLEARED → NORMAL (loop)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Flowchart Algoritma — Alur Lengkap Sistem</a:t>
            </a:r>
            <a:endParaRPr lang="en-US" sz="2400" dirty="0"/>
          </a:p>
        </p:txBody>
      </p:sp>
      <p:pic>
        <p:nvPicPr>
          <p:cNvPr id="3" name="Image 0" descr="D:/Win/Doc/MAHASISWA/4/PemKom/ETS/docs/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685800"/>
            <a:ext cx="576072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217920" y="685800"/>
            <a:ext cx="3200400" cy="4754880"/>
          </a:xfrm>
          <a:prstGeom prst="roundRect">
            <a:avLst>
              <a:gd name="adj" fmla="val 2286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777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Penjelasan Alur: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355080" y="1097280"/>
            <a:ext cx="29260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START → Baca Tombol GPIO15
   Polling tiap 100ms
</a:t>
            </a:r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Button HIGH?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YA → Sticky Latch = TRUE
   hold_count++
   Inject: temp=99, vib=9999
</a:t>
            </a:r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hold_count ≥ 50?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YA (≥5s) → Inject press=0 (CRITICAL)
   TIDAK → press tetap 1013 (MINOR)
</a:t>
            </a:r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Baca Sensor State
   temp, press, vib → Voting
</a:t>
            </a:r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Anomalies ≥ 2?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YA → FAULT → Set Lockout
   TIDAK → Cek Lockout &gt; 0?
     YA → Lanjut countdown
     TIDAK → NORMAL
</a:t>
            </a:r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Lockout Countdown
   -100ms per iterasi
   Selesai → CLEAR → Reset
</a:t>
            </a:r>
            <a:pPr indent="0" marL="0">
              <a:lnSpc>
                <a:spcPts val="1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DELAY 100ms → LOOP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Rangkaian Simulasi — Proteus 9.00 VSM</a:t>
            </a:r>
            <a:endParaRPr lang="en-US" sz="2400" dirty="0"/>
          </a:p>
        </p:txBody>
      </p:sp>
      <p:pic>
        <p:nvPicPr>
          <p:cNvPr id="3" name="Image 0" descr="D:/Win/Doc/MAHASISWA/4/PemKom/ETS/Laporan/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731520"/>
            <a:ext cx="4572000" cy="2377440"/>
          </a:xfrm>
          <a:prstGeom prst="rect">
            <a:avLst/>
          </a:prstGeom>
        </p:spPr>
      </p:pic>
      <p:pic>
        <p:nvPicPr>
          <p:cNvPr id="4" name="Image 1" descr="D:/Win/Doc/MAHASISWA/4/PemKom/ETS/Laporan/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731520"/>
            <a:ext cx="4572000" cy="23774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82880" y="31546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FAULT: LED Merah (GPIO3) ON, Hijau OFF</a:t>
            </a:r>
            <a:endParaRPr lang="en-US" sz="900" dirty="0"/>
          </a:p>
        </p:txBody>
      </p:sp>
      <p:sp>
        <p:nvSpPr>
          <p:cNvPr id="6" name="Text 2"/>
          <p:cNvSpPr/>
          <p:nvPr/>
        </p:nvSpPr>
        <p:spPr>
          <a:xfrm>
            <a:off x="5029200" y="31546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LOCKOUT: Merah + Kuning (GPIO5) ON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182880" y="3520440"/>
            <a:ext cx="4572000" cy="256032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32004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 (Active-High)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86200"/>
          <a:ext cx="4297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Komponen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Fungsi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GPIO3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LED Merah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Valve tertutup (fault)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GPIO4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LED Hijau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 normal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GPIO5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LED Kuning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Lockout aktif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GPIO15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Push-Button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 injection (pull-down 10kΩ)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029200" y="3520440"/>
            <a:ext cx="4572000" cy="2560320"/>
          </a:xfrm>
          <a:prstGeom prst="roundRect">
            <a:avLst>
              <a:gd name="adj" fmla="val 2143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516636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— Normal vs Injeksi</a:t>
            </a:r>
            <a:endParaRPr lang="en-US" sz="11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3886200"/>
          <a:ext cx="42976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0584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Normal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Injeksi MINOR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Injeksi CRITICAL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Suhu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25°C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99°C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99°C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Tekanan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1013 hPa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1013 hPa (normal)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hPa (GAGAL)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Vibrasi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Anomali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1 — MINOR Fault (Klik Singkat &lt; 5 detik)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731520"/>
            <a:ext cx="9144000" cy="2560320"/>
          </a:xfrm>
          <a:prstGeom prst="roundRect">
            <a:avLst>
              <a:gd name="adj" fmla="val 2857"/>
            </a:avLst>
          </a:prstGeom>
          <a:solidFill>
            <a:srgbClr val="FFFBEB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778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yang terjadi saat tombol ditekan singkat: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Tombol GPIO15 ditekan dan langsung dilepas (durasi &lt; 5 detik).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latch menangkap klik → hold_count mulai dari 1.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diinjeksi: suhu 25→99°C (&gt;threshold 80°C), vibrasi 5→9999 (&gt;threshold 500).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Tekanan TETAP 1013 hPa (dalam range 900-1200) — hold_count &lt; 50.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Voting: 2 sensor anomali (suhu + vibrasi) ≥ quorum 2/3 → FAULT DETECTED.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Klasifikasi: 2/3 anomali → MINOR → lockout 500 ms.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Merah (GPIO3) ON, Hijau (GPIO4) OFF, Kuning (GPIO5) ON.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Countdown: 500→400→300→200→100→0 ms.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LOCKOUT CLEARED: sensor di-reset, LED Merah OFF, Kuning OFF, Hijau 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3474720"/>
            <a:ext cx="9144000" cy="2560320"/>
          </a:xfrm>
          <a:prstGeom prst="roundRect">
            <a:avLst>
              <a:gd name="adj" fmla="val 2857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CSV dari Debug Console Proteus: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3886200"/>
            <a:ext cx="8778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iter  temp  press  vib   lat  status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4    99   1013   9999   45  FAULT_DETECTED(MINOR,2/3)    ← fault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5    99   1013   9999    0  LOCKOUT_ACTIVE(400ms)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6    99   1013   9999    0  LOCKOUT_ACTIVE(300ms)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7    99   1013   9999    0  LOCKOUT_ACTIVE(200ms)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8    99   1013   9999    0  LOCKOUT_ACTIVE(100ms)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9    99   1013   9999    0  LOCKOUT_CLEARED                ← 5 iter = 500ms ✓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2 — CRITICAL Fault (Tahan ≥ 5 detik)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731520"/>
            <a:ext cx="9144000" cy="2560320"/>
          </a:xfrm>
          <a:prstGeom prst="roundRect">
            <a:avLst>
              <a:gd name="adj" fmla="val 2857"/>
            </a:avLst>
          </a:prstGeom>
          <a:solidFill>
            <a:srgbClr val="FEF2F2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22960"/>
            <a:ext cx="8778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yang terjadi saat tombol DITAHAN ≥ 5 detik: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Tombol GPIO15 ditekan dan DITAHAN. hold_count mulai naik.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 detik: hold_count 1→49. Sistem mendeteksi MINOR berulang.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Detik ke-5 (hold_count=50): TRIGGER CRITICAL!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diinjeksi: suhu 99°C, vibrasi 9999, DAN tekanan 0 hPa.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Tekanan 0 hPa = SIMULASI KEGAGALAN TOTAL sensor tekanan.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Voting: 3 sensor anomali = SEMUA GAGAL → CRITICAL FAULT.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Lockout 2000 ms (4× lebih lama dari MINOR) — 20 iterasi.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Merah ON, Kuning ON — sistem AMAN selama 2 detik penuh.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 2000ms: CLEARED, sensor reset, kembali NORMAL.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3474720"/>
            <a:ext cx="9144000" cy="2560320"/>
          </a:xfrm>
          <a:prstGeom prst="roundRect">
            <a:avLst>
              <a:gd name="adj" fmla="val 2857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CSV dari Debug Console Proteus: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3886200"/>
            <a:ext cx="8778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iter  temp  press  vib   lat  status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107   99    0     9999   45  FAULT_DETECTED(CRITICAL,3/3)   ← press=0!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108   99    0     9999    0  LOCKOUT_ACTIVE(1900ms)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109   99    0     9999    0  LOCKOUT_ACTIVE(1800ms)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126   99    0     9999    0  LOCKOUT_ACTIVE(100ms)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127   99    0     9999    0  LOCKOUT_CLEARED                 ← 20 iter = 2000ms ✓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MINOR vs CRITICAL — Adaptive Lockout Terbukti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560320"/>
                <a:gridCol w="2468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Kesimpulan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Trigger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Klik &lt; 5 detik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Tahan ≥ 5 detik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Durasi tekan → severity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Sensor Anomali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dari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(suhu + vibrasi)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dari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(semua sensor)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anomali → lockout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Tekanan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1013 hPa (normal)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hPa (GAGAL TOTAL)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hPa = simulasi kerusakan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Lockout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ms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 ms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4× lebih lama CRITICAL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Iterasi @100ms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iterasi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iterasi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Konsisten dgn durasi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Merah+Kuning 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Merah+Kuning 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 sama, durasi beda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Signature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MINOR,2/3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CRITICAL,3/3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 severity di CSV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Latensi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µs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µs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Konsisten semua fault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274320" y="4754880"/>
            <a:ext cx="9144000" cy="137160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4800600"/>
            <a:ext cx="8778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ADAPTIVE LOCKOUT: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Tombol SAMA, durasi BERBEDA → severity BERBEDA → lockout BERBEDA.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MINOR: 500ms (5 iter) — recovery cepat, redundansi masih ada.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CRITICAL: 2000ms (20 iter) — 4× lebih lama, semua sensor gagal.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Valve bounce TIDAK TERJADI — aktuator aman selama lockout.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dari Proteus, diverifikasi python/analyze.py — TANPA REKAYASA.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Visualisasi Data — GNUPlot 5-Panel Analysis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686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membaca grafik: setiap panel menunjukkan aspek berbeda dari perilaku sistem. Data dari simulation_data.dat (319 iterasi).</a:t>
            </a:r>
            <a:endParaRPr lang="en-US" sz="900" dirty="0"/>
          </a:p>
        </p:txBody>
      </p:sp>
      <p:pic>
        <p:nvPicPr>
          <p:cNvPr id="4" name="Image 0" descr="D:/Win/Doc/MAHASISWA/4/PemKom/ETS/Laporan/sensor_fusion_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731520"/>
            <a:ext cx="59436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731520"/>
            <a:ext cx="3383280" cy="3200400"/>
          </a:xfrm>
          <a:prstGeom prst="roundRect">
            <a:avLst>
              <a:gd name="adj" fmla="val 1714"/>
            </a:avLst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355080" y="8229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1 — Multi-Sensor Readings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55080" y="109728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Garis KUNING = suhu (°C)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Garis HIJAU = vibrasi (dibagi 100)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Garis putus MERAH = threshold 80°C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Spike tajam = tombol ditekan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(suhu 25→99, vibrasi 5→9999)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Terlihat suhu &amp; vibrasi selalu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naik bersamaan saat fault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355080" y="2377440"/>
            <a:ext cx="310896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" name="Text 6"/>
          <p:cNvSpPr/>
          <p:nvPr/>
        </p:nvSpPr>
        <p:spPr>
          <a:xfrm>
            <a:off x="6355080" y="242316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2 — Recovery Latency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355080" y="26974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Garis BIRU = latensi (µs)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Garis putus MERAH = safety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threshold 5µs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Nilai terukur 45µs — overhead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MicroPython interpreter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Prediksi Rust bare-metal: &lt;5µs</a:t>
            </a:r>
            <a:endParaRPr lang="en-US" sz="8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(resolusi TIMG0 12.5ns/tick)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355080" y="3794760"/>
            <a:ext cx="310896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Text 9"/>
          <p:cNvSpPr/>
          <p:nvPr/>
        </p:nvSpPr>
        <p:spPr>
          <a:xfrm>
            <a:off x="6355080" y="3840480"/>
            <a:ext cx="310896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3 — Status Timeline</a:t>
            </a:r>
            <a:endParaRPr lang="en-US" sz="1000" dirty="0"/>
          </a:p>
        </p:txBody>
      </p:sp>
      <p:pic>
        <p:nvPicPr>
          <p:cNvPr id="13" name="Image 1" descr="D:/Win/Doc/MAHASISWA/4/PemKom/ETS/Laporan/latency_analys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4114800"/>
            <a:ext cx="2926080" cy="18288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82880" y="5989320"/>
            <a:ext cx="2834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4 — Latency Detail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Zoom-in analisis latensi.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Menunjukkan konsistensi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45µs di semua fault event.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variasi — sistem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bersifat deterministik.</a:t>
            </a:r>
            <a:endParaRPr lang="en-US" sz="800" dirty="0"/>
          </a:p>
        </p:txBody>
      </p:sp>
      <p:pic>
        <p:nvPicPr>
          <p:cNvPr id="15" name="Image 2" descr="D:/Win/Doc/MAHASISWA/4/PemKom/ETS/Laporan/state_time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114800"/>
            <a:ext cx="2926080" cy="1828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291840" y="5989320"/>
            <a:ext cx="2834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5 — State Timeline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berwarna: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HIJAU = fase NORMAL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MERAH/ORANYE = siklus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fault-lockout.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berulang deterministik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 tombol ditekan kontinu.</a:t>
            </a:r>
            <a:endParaRPr lang="en-US" sz="800" dirty="0"/>
          </a:p>
        </p:txBody>
      </p:sp>
      <p:pic>
        <p:nvPicPr>
          <p:cNvPr id="17" name="Image 3" descr="D:/Win/Doc/MAHASISWA/4/PemKom/ETS/Laporan/voting_heatma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114800"/>
            <a:ext cx="3200400" cy="18288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0" y="598932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 Heatmap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baris = 3 sensor: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Atas: suhu (&gt;80°C)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Tengah: tekanan (&lt;900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atau &gt;1200 hPa)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Bawah: vibrasi (&gt;500)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Merah = anomali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Biru = normal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Terlihat tekanan hanya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merah saat CRITICAL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(tahan ≥5 detik).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Keunggulan Metode vs Penelitian Sebelumnya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548640"/>
          <a:ext cx="9418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1920240"/>
                <a:gridCol w="19202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Metode Kami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J14 (Desikan 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J17 (Bruneo 2022)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J21 (Radovici 2022)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Rust compile-time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CVE surface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Tidak dibahas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(C/C++ assumed)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Tidak dibahas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Rust-based Tock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(OS-level, bukan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bare-metal)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Concurrency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Mutex&lt;RefCell&lt;T&gt;&gt;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critical_section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Tidak 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mekanisme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Single-thread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ESN processing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eBPF + Tock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(kernel-space,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kompleks)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Voting ≥2/3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majority quorum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Dynamic threshold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(single-sensor)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ESN anomaly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detection (ML-heavy)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Tidak 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sensor fusion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Fail-Safe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Adaptive Lockout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500/2000ms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Tidak 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lockout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Tidak 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fail-safe actuator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Tidak 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lockout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Hardware timer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45µs (MicroPython)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Tidak diukur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ESN inference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(tidak real-time)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3× faster interrupt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(vs Linux, bukan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bare-metal)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Dokumentasi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LaTeX 25 ref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GNUPlot 5 panel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Paper terstruktur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(tanpa kode)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Paper + eksperimen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(Matlab, tidak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embedded)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Paper + benchmark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(kode OS, bukan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aplikasi)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37160" y="5212080"/>
            <a:ext cx="9418320" cy="9144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20040" y="525780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Kontribusi Orisinal: </a:t>
            </a:r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penelitian yang mengintegrasikan Rust bare-metal + voting fusion + adaptive lockout dalam satu sistem. Metode kami menjembatani celah antara formal verification Rust (J18, J19, J23) dengan implementasi praktis pada embedded system (J24). Hasil simulasi MEMBUKTIKAN adaptive lockout bekerja — tanpa rekayasa data.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686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Celah riset: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jurnal (2021-2026) — tidak ada yang integrasikan Rust safe-concurrency + voting fusion + adaptive lockout.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Metode: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Safe-Concurrency Multi-Sensor Fusion — Mutex&lt;RefCell&lt;T&gt;&gt;, voting ≥2/3, adaptive lockout 500/2000ms, hold-duration detection.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Simulasi MEMBUKTIKAN: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319 iterasi Proteus VSM. 5 MINOR (500ms) + 3 CRITICAL (2000ms). Python verify — tanpa rekayasa.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Keunggulan vs literatur: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safety (Rust), voting redundancy, adaptive lockout, event-triggered — kombinasi pertama di embedded system.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3949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Abdurrauf Almutawakkil — NRP 2042241115 — Teknik Instrumentasi ITS — 2025/2026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Safe-Concurrency Multi-Sensor Fusion</dc:title>
  <dc:subject>PptxGenJS Presentation</dc:subject>
  <dc:creator>Abdurrauf Almutawakkil</dc:creator>
  <cp:lastModifiedBy>Abdurrauf Almutawakkil</cp:lastModifiedBy>
  <cp:revision>1</cp:revision>
  <dcterms:created xsi:type="dcterms:W3CDTF">2026-06-18T10:13:46Z</dcterms:created>
  <dcterms:modified xsi:type="dcterms:W3CDTF">2026-06-18T10:13:46Z</dcterms:modified>
</cp:coreProperties>
</file>